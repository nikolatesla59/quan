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6217920" cy="3931920"/>
          </a:xfrm>
          <a:prstGeom prst="rect">
            <a:avLst/>
          </a:prstGeom>
          <a:noFill/>
        </p:spPr>
        <p:txBody>
          <a:bodyPr wrap="square">
            <a:spAutoFit/>
          </a:bodyPr>
          <a:lstStyle/>
          <a:p>
            <a:pPr>
              <a:defRPr sz="1200" b="1">
                <a:solidFill>
                  <a:srgbClr val="D97706"/>
                </a:solidFill>
                <a:latin typeface="Segoe UI"/>
              </a:defRPr>
            </a:pPr>
            <a:r>
              <a:t>★ HỒ SƠ KHẢ THI &amp; KẾ HOẠCH ĐẦU TƯ CHIẾN LƯỢC</a:t>
            </a:r>
          </a:p>
          <a:p>
            <a:pPr>
              <a:spcBef>
                <a:spcPts val="800"/>
              </a:spcBef>
              <a:spcAft>
                <a:spcPts val="600"/>
              </a:spcAft>
              <a:defRPr sz="3200" b="1">
                <a:solidFill>
                  <a:srgbClr val="0E1E40"/>
                </a:solidFill>
                <a:latin typeface="Segoe UI"/>
              </a:defRPr>
            </a:pPr>
            <a:r>
              <a:t>PHÒNG KHÁM NHA KHOA</a:t>
            </a:r>
            <a:br/>
            <a:r>
              <a:t>QUỐC TẾ PAKSE</a:t>
            </a:r>
          </a:p>
          <a:p>
            <a:pPr>
              <a:spcAft>
                <a:spcPts val="1200"/>
              </a:spcAft>
              <a:defRPr sz="1400" b="1">
                <a:solidFill>
                  <a:srgbClr val="0284C7"/>
                </a:solidFill>
                <a:latin typeface="Segoe UI"/>
              </a:defRPr>
            </a:pPr>
            <a:r>
              <a:t>PAKSE INTERNATIONAL DENTAL CLINIC — CHAMPASAK, LÀO</a:t>
            </a:r>
          </a:p>
          <a:p>
            <a:pPr>
              <a:defRPr sz="1250">
                <a:solidFill>
                  <a:srgbClr val="475569"/>
                </a:solidFill>
                <a:latin typeface="Segoe UI"/>
              </a:defRPr>
            </a:pPr>
            <a:r>
              <a:t>Thẩm định hiệu quả đầu tư, cơ cấu định phí tối ưu ($500/tháng mặt bằng) và dự phóng dòng tiền theo 3 kịch bản doanh thu ngày (Min 80 tr – Kỳ vọng 140 tr – Max 200 tr/ngày). Lộ trình thi công chỉnh trang 15 ngày, khai trương thần tốc trong Tháng 11.</a:t>
            </a:r>
          </a:p>
        </p:txBody>
      </p:sp>
      <p:pic>
        <p:nvPicPr>
          <p:cNvPr id="4" name="Picture 3" descr="01_Phong_Kham_Nha_Khoa_Pakse.jpg"/>
          <p:cNvPicPr>
            <a:picLocks noChangeAspect="1"/>
          </p:cNvPicPr>
          <p:nvPr/>
        </p:nvPicPr>
        <p:blipFill>
          <a:blip r:embed="rId2"/>
          <a:stretch>
            <a:fillRect/>
          </a:stretch>
        </p:blipFill>
        <p:spPr>
          <a:xfrm>
            <a:off x="7132320" y="640080"/>
            <a:ext cx="4297680" cy="3840480"/>
          </a:xfrm>
          <a:prstGeom prst="rect">
            <a:avLst/>
          </a:prstGeom>
        </p:spPr>
      </p:pic>
      <p:sp>
        <p:nvSpPr>
          <p:cNvPr id="5" name="Rounded Rectangle 4"/>
          <p:cNvSpPr/>
          <p:nvPr/>
        </p:nvSpPr>
        <p:spPr>
          <a:xfrm>
            <a:off x="731520" y="4754880"/>
            <a:ext cx="2542032" cy="1645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4754880"/>
            <a:ext cx="2542032" cy="9144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892040"/>
            <a:ext cx="2542032" cy="1463040"/>
          </a:xfrm>
          <a:prstGeom prst="rect">
            <a:avLst/>
          </a:prstGeom>
          <a:noFill/>
        </p:spPr>
        <p:txBody>
          <a:bodyPr wrap="square" lIns="109728" rIns="109728">
            <a:spAutoFit/>
          </a:bodyPr>
          <a:lstStyle/>
          <a:p>
            <a:pPr>
              <a:defRPr sz="950" b="1">
                <a:solidFill>
                  <a:srgbClr val="475569"/>
                </a:solidFill>
                <a:latin typeface="Segoe UI"/>
              </a:defRPr>
            </a:pPr>
            <a:r>
              <a:t>TỔNG MỨC ĐẦU TƯ (CAPEX)</a:t>
            </a:r>
          </a:p>
          <a:p>
            <a:pPr>
              <a:spcBef>
                <a:spcPts val="200"/>
              </a:spcBef>
              <a:spcAft>
                <a:spcPts val="200"/>
              </a:spcAft>
              <a:defRPr sz="2000" b="1">
                <a:solidFill>
                  <a:srgbClr val="0E1E40"/>
                </a:solidFill>
                <a:latin typeface="Segoe UI"/>
              </a:defRPr>
            </a:pPr>
            <a:r>
              <a:t>3,26 TỶ VNĐ</a:t>
            </a:r>
          </a:p>
          <a:p>
            <a:pPr>
              <a:defRPr sz="900">
                <a:solidFill>
                  <a:srgbClr val="475569"/>
                </a:solidFill>
                <a:latin typeface="Segoe UI"/>
              </a:defRPr>
            </a:pPr>
            <a:r>
              <a:t>$125.798 USD (Máy CT + 1 Năm Nhà)</a:t>
            </a:r>
          </a:p>
        </p:txBody>
      </p:sp>
      <p:sp>
        <p:nvSpPr>
          <p:cNvPr id="8" name="Rounded Rectangle 7"/>
          <p:cNvSpPr/>
          <p:nvPr/>
        </p:nvSpPr>
        <p:spPr>
          <a:xfrm>
            <a:off x="3456432" y="4754880"/>
            <a:ext cx="2542032" cy="1645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6432" y="4754880"/>
            <a:ext cx="2542032"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4892040"/>
            <a:ext cx="2542032" cy="1463040"/>
          </a:xfrm>
          <a:prstGeom prst="rect">
            <a:avLst/>
          </a:prstGeom>
          <a:noFill/>
        </p:spPr>
        <p:txBody>
          <a:bodyPr wrap="square" lIns="109728" rIns="109728">
            <a:spAutoFit/>
          </a:bodyPr>
          <a:lstStyle/>
          <a:p>
            <a:pPr>
              <a:defRPr sz="950" b="1">
                <a:solidFill>
                  <a:srgbClr val="475569"/>
                </a:solidFill>
                <a:latin typeface="Segoe UI"/>
              </a:defRPr>
            </a:pPr>
            <a:r>
              <a:t>THỜI GIAN HOÀN VỐN</a:t>
            </a:r>
          </a:p>
          <a:p>
            <a:pPr>
              <a:spcBef>
                <a:spcPts val="200"/>
              </a:spcBef>
              <a:spcAft>
                <a:spcPts val="200"/>
              </a:spcAft>
              <a:defRPr sz="2000" b="1">
                <a:solidFill>
                  <a:srgbClr val="059669"/>
                </a:solidFill>
                <a:latin typeface="Segoe UI"/>
              </a:defRPr>
            </a:pPr>
            <a:r>
              <a:t>3 – 6 THÁNG</a:t>
            </a:r>
          </a:p>
          <a:p>
            <a:pPr>
              <a:defRPr sz="900">
                <a:solidFill>
                  <a:srgbClr val="475569"/>
                </a:solidFill>
                <a:latin typeface="Segoe UI"/>
              </a:defRPr>
            </a:pPr>
            <a:r>
              <a:t>Hoàn 100% vốn ngay Năm thứ 1</a:t>
            </a:r>
          </a:p>
        </p:txBody>
      </p:sp>
      <p:sp>
        <p:nvSpPr>
          <p:cNvPr id="11" name="Rounded Rectangle 10"/>
          <p:cNvSpPr/>
          <p:nvPr/>
        </p:nvSpPr>
        <p:spPr>
          <a:xfrm>
            <a:off x="6181344" y="4754880"/>
            <a:ext cx="2542032" cy="1645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344" y="4754880"/>
            <a:ext cx="2542032"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4892040"/>
            <a:ext cx="2542032" cy="1463040"/>
          </a:xfrm>
          <a:prstGeom prst="rect">
            <a:avLst/>
          </a:prstGeom>
          <a:noFill/>
        </p:spPr>
        <p:txBody>
          <a:bodyPr wrap="square" lIns="109728" rIns="109728">
            <a:spAutoFit/>
          </a:bodyPr>
          <a:lstStyle/>
          <a:p>
            <a:pPr>
              <a:defRPr sz="950" b="1">
                <a:solidFill>
                  <a:srgbClr val="475569"/>
                </a:solidFill>
                <a:latin typeface="Segoe UI"/>
              </a:defRPr>
            </a:pPr>
            <a:r>
              <a:t>EBITDA THÁNG (KỲ VỌNG)</a:t>
            </a:r>
          </a:p>
          <a:p>
            <a:pPr>
              <a:spcBef>
                <a:spcPts val="200"/>
              </a:spcBef>
              <a:spcAft>
                <a:spcPts val="200"/>
              </a:spcAft>
              <a:defRPr sz="2000" b="1">
                <a:solidFill>
                  <a:srgbClr val="D97706"/>
                </a:solidFill>
                <a:latin typeface="Segoe UI"/>
              </a:defRPr>
            </a:pPr>
            <a:r>
              <a:t>2,57 TỶ / THÁNG</a:t>
            </a:r>
          </a:p>
          <a:p>
            <a:pPr>
              <a:defRPr sz="900">
                <a:solidFill>
                  <a:srgbClr val="475569"/>
                </a:solidFill>
                <a:latin typeface="Segoe UI"/>
              </a:defRPr>
            </a:pPr>
            <a:r>
              <a:t>Biên lợi nhuận ròng đạt 70,5%</a:t>
            </a:r>
          </a:p>
        </p:txBody>
      </p:sp>
      <p:sp>
        <p:nvSpPr>
          <p:cNvPr id="14" name="Rounded Rectangle 13"/>
          <p:cNvSpPr/>
          <p:nvPr/>
        </p:nvSpPr>
        <p:spPr>
          <a:xfrm>
            <a:off x="8906256" y="4754880"/>
            <a:ext cx="2542032" cy="1645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06256" y="4754880"/>
            <a:ext cx="2542032"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06256" y="4892040"/>
            <a:ext cx="2542032" cy="1463040"/>
          </a:xfrm>
          <a:prstGeom prst="rect">
            <a:avLst/>
          </a:prstGeom>
          <a:noFill/>
        </p:spPr>
        <p:txBody>
          <a:bodyPr wrap="square" lIns="109728" rIns="109728">
            <a:spAutoFit/>
          </a:bodyPr>
          <a:lstStyle/>
          <a:p>
            <a:pPr>
              <a:defRPr sz="950" b="1">
                <a:solidFill>
                  <a:srgbClr val="475569"/>
                </a:solidFill>
                <a:latin typeface="Segoe UI"/>
              </a:defRPr>
            </a:pPr>
            <a:r>
              <a:t>TIẾN ĐỘ KHAI TRƯƠNG</a:t>
            </a:r>
          </a:p>
          <a:p>
            <a:pPr>
              <a:spcBef>
                <a:spcPts val="200"/>
              </a:spcBef>
              <a:spcAft>
                <a:spcPts val="200"/>
              </a:spcAft>
              <a:defRPr sz="2000" b="1">
                <a:solidFill>
                  <a:srgbClr val="0284C7"/>
                </a:solidFill>
                <a:latin typeface="Segoe UI"/>
              </a:defRPr>
            </a:pPr>
            <a:r>
              <a:t>THÁNG 11</a:t>
            </a:r>
          </a:p>
          <a:p>
            <a:pPr>
              <a:defRPr sz="900">
                <a:solidFill>
                  <a:srgbClr val="475569"/>
                </a:solidFill>
                <a:latin typeface="Segoe UI"/>
              </a:defRPr>
            </a:pPr>
            <a:r>
              <a:t>30 ngày thần tốc đón bệnh nhân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01. Bối Cảnh Thị Trường &amp; Cơ Hội 'Khoảng Trống Vàng'</a:t>
            </a:r>
          </a:p>
          <a:p>
            <a:pPr>
              <a:defRPr sz="1200" b="1">
                <a:solidFill>
                  <a:srgbClr val="0284C7"/>
                </a:solidFill>
                <a:latin typeface="Segoe UI"/>
              </a:defRPr>
            </a:pPr>
            <a:r>
              <a:t>Nhu cầu y tế nha khoa kỹ thuật cao tại Nam Lào &amp; Cơ hội giữ trọn dòng tiền ngoại tệ</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01</a:t>
            </a:r>
          </a:p>
        </p:txBody>
      </p:sp>
      <p:sp>
        <p:nvSpPr>
          <p:cNvPr id="7" name="Rounded Rectangle 6"/>
          <p:cNvSpPr/>
          <p:nvPr/>
        </p:nvSpPr>
        <p:spPr>
          <a:xfrm>
            <a:off x="731520" y="1554480"/>
            <a:ext cx="342900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54480"/>
            <a:ext cx="3429000" cy="109728"/>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37360"/>
            <a:ext cx="3429000" cy="4480560"/>
          </a:xfrm>
          <a:prstGeom prst="rect">
            <a:avLst/>
          </a:prstGeom>
          <a:noFill/>
        </p:spPr>
        <p:txBody>
          <a:bodyPr wrap="square" lIns="137160" rIns="137160">
            <a:spAutoFit/>
          </a:bodyPr>
          <a:lstStyle/>
          <a:p>
            <a:pPr>
              <a:spcAft>
                <a:spcPts val="1400"/>
              </a:spcAft>
              <a:defRPr sz="1300" b="1">
                <a:solidFill>
                  <a:srgbClr val="0E1E40"/>
                </a:solidFill>
                <a:latin typeface="Segoe UI"/>
              </a:defRPr>
            </a:pPr>
            <a:r>
              <a:t>📍 THỦ PHỦ KINH TẾ NAM LÀO</a:t>
            </a:r>
          </a:p>
          <a:p>
            <a:pPr>
              <a:spcAft>
                <a:spcPts val="1000"/>
              </a:spcAft>
              <a:defRPr sz="1100" b="1">
                <a:solidFill>
                  <a:srgbClr val="0F172A"/>
                </a:solidFill>
                <a:latin typeface="Segoe UI"/>
              </a:defRPr>
            </a:pPr>
            <a:r>
              <a:t>• Trung tâm 4 tỉnh: </a:t>
            </a:r>
            <a:r>
              <a:rPr b="0">
                <a:solidFill>
                  <a:srgbClr val="475569"/>
                </a:solidFill>
              </a:rPr>
              <a:t>Pakse là hạt nhân kinh tế của Champasak, Salavan, Sekong, Attapeu với dân số trên 755.000 người.</a:t>
            </a:r>
          </a:p>
          <a:p>
            <a:pPr>
              <a:spcAft>
                <a:spcPts val="1000"/>
              </a:spcAft>
              <a:defRPr sz="1100" b="1">
                <a:solidFill>
                  <a:srgbClr val="0F172A"/>
                </a:solidFill>
                <a:latin typeface="Segoe UI"/>
              </a:defRPr>
            </a:pPr>
            <a:r>
              <a:t>• Mặt bằng đắc địa: </a:t>
            </a:r>
            <a:r>
              <a:rPr b="0">
                <a:solidFill>
                  <a:srgbClr val="475569"/>
                </a:solidFill>
              </a:rPr>
              <a:t>Tọa lạc ngay mặt tiền No.13 Chợ Đào Hương — khu giao thương sầm uất nhất vùng.</a:t>
            </a:r>
          </a:p>
          <a:p>
            <a:pPr>
              <a:spcAft>
                <a:spcPts val="1000"/>
              </a:spcAft>
              <a:defRPr sz="1100" b="1">
                <a:solidFill>
                  <a:srgbClr val="0F172A"/>
                </a:solidFill>
                <a:latin typeface="Segoe UI"/>
              </a:defRPr>
            </a:pPr>
            <a:r>
              <a:t>• Thực trạng y tế: </a:t>
            </a:r>
            <a:r>
              <a:rPr b="0">
                <a:solidFill>
                  <a:srgbClr val="475569"/>
                </a:solidFill>
              </a:rPr>
              <a:t>Bệnh viện công chỉ nhổ răng trám cơ bản; phòng khám tư bản địa máy móc thô sơ, thiếu máy CT 3D.</a:t>
            </a:r>
          </a:p>
        </p:txBody>
      </p:sp>
      <p:sp>
        <p:nvSpPr>
          <p:cNvPr id="10" name="Rounded Rectangle 9"/>
          <p:cNvSpPr/>
          <p:nvPr/>
        </p:nvSpPr>
        <p:spPr>
          <a:xfrm>
            <a:off x="4379976" y="1554480"/>
            <a:ext cx="342900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9976" y="1554480"/>
            <a:ext cx="3429000"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9976" y="1737360"/>
            <a:ext cx="3429000" cy="4480560"/>
          </a:xfrm>
          <a:prstGeom prst="rect">
            <a:avLst/>
          </a:prstGeom>
          <a:noFill/>
        </p:spPr>
        <p:txBody>
          <a:bodyPr wrap="square" lIns="137160" rIns="137160">
            <a:spAutoFit/>
          </a:bodyPr>
          <a:lstStyle/>
          <a:p>
            <a:pPr>
              <a:spcAft>
                <a:spcPts val="1400"/>
              </a:spcAft>
              <a:defRPr sz="1300" b="1">
                <a:solidFill>
                  <a:srgbClr val="D97706"/>
                </a:solidFill>
                <a:latin typeface="Segoe UI"/>
              </a:defRPr>
            </a:pPr>
            <a:r>
              <a:t>🚗 CHẢY MÁU NGOẠI TỆ SANG THÁI LAN</a:t>
            </a:r>
          </a:p>
          <a:p>
            <a:pPr>
              <a:spcAft>
                <a:spcPts val="1000"/>
              </a:spcAft>
              <a:defRPr sz="1100" b="1">
                <a:solidFill>
                  <a:srgbClr val="0F172A"/>
                </a:solidFill>
                <a:latin typeface="Segoe UI"/>
              </a:defRPr>
            </a:pPr>
            <a:r>
              <a:t>• Vấn nạn di chuyển: </a:t>
            </a:r>
            <a:r>
              <a:rPr b="0">
                <a:solidFill>
                  <a:srgbClr val="475569"/>
                </a:solidFill>
              </a:rPr>
              <a:t>Người khá giả, kiều bào khi làm răng sứ thẩm mỹ, Implant phải lái xe 120km vượt biên sang Ubon (Thái Lan).</a:t>
            </a:r>
          </a:p>
          <a:p>
            <a:pPr>
              <a:spcAft>
                <a:spcPts val="1000"/>
              </a:spcAft>
              <a:defRPr sz="1100" b="1">
                <a:solidFill>
                  <a:srgbClr val="0F172A"/>
                </a:solidFill>
                <a:latin typeface="Segoe UI"/>
              </a:defRPr>
            </a:pPr>
            <a:r>
              <a:t>• Chi phí đắt đỏ: </a:t>
            </a:r>
            <a:r>
              <a:rPr b="0">
                <a:solidFill>
                  <a:srgbClr val="475569"/>
                </a:solidFill>
              </a:rPr>
              <a:t>Tốn kém lớn về ăn ở, đi lại, rào cản ngôn ngữ và cực kỳ bất tiện khi tái khám định kỳ.</a:t>
            </a:r>
          </a:p>
          <a:p>
            <a:pPr>
              <a:spcAft>
                <a:spcPts val="1000"/>
              </a:spcAft>
              <a:defRPr sz="1100" b="1">
                <a:solidFill>
                  <a:srgbClr val="0F172A"/>
                </a:solidFill>
                <a:latin typeface="Segoe UI"/>
              </a:defRPr>
            </a:pPr>
            <a:r>
              <a:t>• Nhu cầu dồn nén: </a:t>
            </a:r>
            <a:r>
              <a:rPr b="0">
                <a:solidFill>
                  <a:srgbClr val="475569"/>
                </a:solidFill>
              </a:rPr>
              <a:t>Cần một cơ sở chuẩn quốc tế ngay tại chỗ để giải quyết dứt điểm nhu cầu chăm sóc răng miệng.</a:t>
            </a:r>
          </a:p>
        </p:txBody>
      </p:sp>
      <p:sp>
        <p:nvSpPr>
          <p:cNvPr id="13" name="Rounded Rectangle 12"/>
          <p:cNvSpPr/>
          <p:nvPr/>
        </p:nvSpPr>
        <p:spPr>
          <a:xfrm>
            <a:off x="8028432" y="1554480"/>
            <a:ext cx="342900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28432" y="1554480"/>
            <a:ext cx="342900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8432" y="1737360"/>
            <a:ext cx="3429000" cy="4480560"/>
          </a:xfrm>
          <a:prstGeom prst="rect">
            <a:avLst/>
          </a:prstGeom>
          <a:noFill/>
        </p:spPr>
        <p:txBody>
          <a:bodyPr wrap="square" lIns="137160" rIns="137160">
            <a:spAutoFit/>
          </a:bodyPr>
          <a:lstStyle/>
          <a:p>
            <a:pPr>
              <a:spcAft>
                <a:spcPts val="1400"/>
              </a:spcAft>
              <a:defRPr sz="1300" b="1">
                <a:solidFill>
                  <a:srgbClr val="059669"/>
                </a:solidFill>
                <a:latin typeface="Segoe UI"/>
              </a:defRPr>
            </a:pPr>
            <a:r>
              <a:t>🎯 ĐỊNH VỊ GIỮ TRỌN DÒNG TIỀN NỘI ĐỊA</a:t>
            </a:r>
          </a:p>
          <a:p>
            <a:pPr>
              <a:spcAft>
                <a:spcPts val="1000"/>
              </a:spcAft>
              <a:defRPr sz="1100" b="1">
                <a:solidFill>
                  <a:srgbClr val="0F172A"/>
                </a:solidFill>
                <a:latin typeface="Segoe UI"/>
              </a:defRPr>
            </a:pPr>
            <a:r>
              <a:t>• Chất lượng tương đương: </a:t>
            </a:r>
            <a:r>
              <a:rPr b="0">
                <a:solidFill>
                  <a:srgbClr val="475569"/>
                </a:solidFill>
              </a:rPr>
              <a:t>Trang bị công nghệ số hóa CT ConeBeam 3D và Bác sĩ chuyên khoa sâu Việt Nam giàu kinh nghiệm.</a:t>
            </a:r>
          </a:p>
          <a:p>
            <a:pPr>
              <a:spcAft>
                <a:spcPts val="1000"/>
              </a:spcAft>
              <a:defRPr sz="1100" b="1">
                <a:solidFill>
                  <a:srgbClr val="0F172A"/>
                </a:solidFill>
                <a:latin typeface="Segoe UI"/>
              </a:defRPr>
            </a:pPr>
            <a:r>
              <a:t>• Giá rẻ hơn 20% - 30%: </a:t>
            </a:r>
            <a:r>
              <a:rPr b="0">
                <a:solidFill>
                  <a:srgbClr val="475569"/>
                </a:solidFill>
              </a:rPr>
              <a:t>Mức giá dịch vụ kỹ thuật cao cạnh tranh hơn hẳn Thái Lan và Vientiane, giữ trọn doanh thu nội địa.</a:t>
            </a:r>
          </a:p>
          <a:p>
            <a:pPr>
              <a:spcAft>
                <a:spcPts val="1000"/>
              </a:spcAft>
              <a:defRPr sz="1100" b="1">
                <a:solidFill>
                  <a:srgbClr val="0F172A"/>
                </a:solidFill>
                <a:latin typeface="Segoe UI"/>
              </a:defRPr>
            </a:pPr>
            <a:r>
              <a:t>• Cộng đồng trung kiên: </a:t>
            </a:r>
            <a:r>
              <a:rPr b="0">
                <a:solidFill>
                  <a:srgbClr val="475569"/>
                </a:solidFill>
              </a:rPr>
              <a:t>Đón đầu &gt;18.000 kiều bào/doanh nhân Việt và tầng lớp trung lưu bản địa đang bùng nổ.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02. Mô Hình Vận Hành &amp; 4 Hào Kinh Tế Cạnh Tranh (Moats)</a:t>
            </a:r>
          </a:p>
          <a:p>
            <a:pPr>
              <a:defRPr sz="1200" b="1">
                <a:solidFill>
                  <a:srgbClr val="0284C7"/>
                </a:solidFill>
                <a:latin typeface="Segoe UI"/>
              </a:defRPr>
            </a:pPr>
            <a:r>
              <a:t>Lợi thế công nghệ số hóa độc quyền, vô trùng Châu Âu và chất lượng lâm sàng vượt trội</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02</a:t>
            </a:r>
          </a:p>
        </p:txBody>
      </p:sp>
      <p:pic>
        <p:nvPicPr>
          <p:cNvPr id="7" name="Picture 6" descr="02_May_Chup_CT_Xquang_3D.jpg"/>
          <p:cNvPicPr>
            <a:picLocks noChangeAspect="1"/>
          </p:cNvPicPr>
          <p:nvPr/>
        </p:nvPicPr>
        <p:blipFill>
          <a:blip r:embed="rId2"/>
          <a:stretch>
            <a:fillRect/>
          </a:stretch>
        </p:blipFill>
        <p:spPr>
          <a:xfrm>
            <a:off x="731520" y="1554480"/>
            <a:ext cx="4389120" cy="4754880"/>
          </a:xfrm>
          <a:prstGeom prst="rect">
            <a:avLst/>
          </a:prstGeom>
        </p:spPr>
      </p:pic>
      <p:sp>
        <p:nvSpPr>
          <p:cNvPr id="8" name="Rounded Rectangle 7"/>
          <p:cNvSpPr/>
          <p:nvPr/>
        </p:nvSpPr>
        <p:spPr>
          <a:xfrm>
            <a:off x="5303520" y="1554480"/>
            <a:ext cx="6156655" cy="1115568"/>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03520" y="1554480"/>
            <a:ext cx="109728" cy="111556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32120" y="1627632"/>
            <a:ext cx="5806440" cy="969264"/>
          </a:xfrm>
          <a:prstGeom prst="rect">
            <a:avLst/>
          </a:prstGeom>
          <a:noFill/>
        </p:spPr>
        <p:txBody>
          <a:bodyPr wrap="square">
            <a:spAutoFit/>
          </a:bodyPr>
          <a:lstStyle/>
          <a:p>
            <a:pPr>
              <a:spcAft>
                <a:spcPts val="300"/>
              </a:spcAft>
              <a:defRPr sz="1200" b="1">
                <a:solidFill>
                  <a:srgbClr val="0284C7"/>
                </a:solidFill>
                <a:latin typeface="Segoe UI"/>
              </a:defRPr>
            </a:pPr>
            <a:r>
              <a:t>01. Hào Công Nghệ Chẩn Đoán Số 3D</a:t>
            </a:r>
          </a:p>
          <a:p>
            <a:pPr>
              <a:defRPr sz="1000">
                <a:solidFill>
                  <a:srgbClr val="0F172A"/>
                </a:solidFill>
                <a:latin typeface="Segoe UI"/>
              </a:defRPr>
            </a:pPr>
            <a:r>
              <a:t>Hệ thống CT ConeBeam Panorama 3D toàn cảnh ($40.000 USD) kết hợp sensor kỹ thuật số RVG. Phòng khám tư đầu tiên tại Nam Lào lập phác đồ cấy ghép Implant và chỉnh nha 3D chuẩn xác chỉ trong 5 phút.</a:t>
            </a:r>
          </a:p>
        </p:txBody>
      </p:sp>
      <p:sp>
        <p:nvSpPr>
          <p:cNvPr id="11" name="Rounded Rectangle 10"/>
          <p:cNvSpPr/>
          <p:nvPr/>
        </p:nvSpPr>
        <p:spPr>
          <a:xfrm>
            <a:off x="5303520" y="2761488"/>
            <a:ext cx="6156655" cy="1115568"/>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0" y="2761488"/>
            <a:ext cx="109728" cy="11155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0" y="2834640"/>
            <a:ext cx="5806440" cy="969264"/>
          </a:xfrm>
          <a:prstGeom prst="rect">
            <a:avLst/>
          </a:prstGeom>
          <a:noFill/>
        </p:spPr>
        <p:txBody>
          <a:bodyPr wrap="square">
            <a:spAutoFit/>
          </a:bodyPr>
          <a:lstStyle/>
          <a:p>
            <a:pPr>
              <a:spcAft>
                <a:spcPts val="300"/>
              </a:spcAft>
              <a:defRPr sz="1200" b="1">
                <a:solidFill>
                  <a:srgbClr val="059669"/>
                </a:solidFill>
                <a:latin typeface="Segoe UI"/>
              </a:defRPr>
            </a:pPr>
            <a:r>
              <a:t>02. Hào Vô Trùng Khép Kín Chuẩn Châu Âu</a:t>
            </a:r>
          </a:p>
          <a:p>
            <a:pPr>
              <a:defRPr sz="1000">
                <a:solidFill>
                  <a:srgbClr val="0F172A"/>
                </a:solidFill>
                <a:latin typeface="Segoe UI"/>
              </a:defRPr>
            </a:pPr>
            <a:r>
              <a:t>Hệ thống tiệt trùng 1 chiều với Nồi hấp sấy chân không Class B 23L đạt chuẩn EN 13060 — tiêu chuẩn bắt buộc cho các tay khoan có lỗ rỗng, triệt tiêu 100% rủi ro lây nhiễm chéo.</a:t>
            </a:r>
          </a:p>
        </p:txBody>
      </p:sp>
      <p:sp>
        <p:nvSpPr>
          <p:cNvPr id="14" name="Rounded Rectangle 13"/>
          <p:cNvSpPr/>
          <p:nvPr/>
        </p:nvSpPr>
        <p:spPr>
          <a:xfrm>
            <a:off x="5303520" y="3968496"/>
            <a:ext cx="6156655" cy="1115568"/>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03520" y="3968496"/>
            <a:ext cx="109728" cy="111556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4041648"/>
            <a:ext cx="5806440" cy="969264"/>
          </a:xfrm>
          <a:prstGeom prst="rect">
            <a:avLst/>
          </a:prstGeom>
          <a:noFill/>
        </p:spPr>
        <p:txBody>
          <a:bodyPr wrap="square">
            <a:spAutoFit/>
          </a:bodyPr>
          <a:lstStyle/>
          <a:p>
            <a:pPr>
              <a:spcAft>
                <a:spcPts val="300"/>
              </a:spcAft>
              <a:defRPr sz="1200" b="1">
                <a:solidFill>
                  <a:srgbClr val="D97706"/>
                </a:solidFill>
                <a:latin typeface="Segoe UI"/>
              </a:defRPr>
            </a:pPr>
            <a:r>
              <a:t>03. Hào Bác Sĩ Chuyên Khoa Sâu Việt Nam</a:t>
            </a:r>
          </a:p>
          <a:p>
            <a:pPr>
              <a:defRPr sz="1000">
                <a:solidFill>
                  <a:srgbClr val="0F172A"/>
                </a:solidFill>
                <a:latin typeface="Segoe UI"/>
              </a:defRPr>
            </a:pPr>
            <a:r>
              <a:t>Bác sĩ Trưởng (CMO) từ Việt Nam &gt;7 năm kinh nghiệm cấy ghép Implant &amp; răng sứ, được cấp chứng chỉ HPC Lào. Cơ chế chia sẻ doanh thu 15-25% và vesting cổ phần gắn kết lâu dài.</a:t>
            </a:r>
          </a:p>
        </p:txBody>
      </p:sp>
      <p:sp>
        <p:nvSpPr>
          <p:cNvPr id="17" name="Rounded Rectangle 16"/>
          <p:cNvSpPr/>
          <p:nvPr/>
        </p:nvSpPr>
        <p:spPr>
          <a:xfrm>
            <a:off x="5303520" y="5175504"/>
            <a:ext cx="6156655" cy="1115568"/>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03520" y="5175504"/>
            <a:ext cx="109728" cy="1115568"/>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32120" y="5248656"/>
            <a:ext cx="5806440" cy="969264"/>
          </a:xfrm>
          <a:prstGeom prst="rect">
            <a:avLst/>
          </a:prstGeom>
          <a:noFill/>
        </p:spPr>
        <p:txBody>
          <a:bodyPr wrap="square">
            <a:spAutoFit/>
          </a:bodyPr>
          <a:lstStyle/>
          <a:p>
            <a:pPr>
              <a:spcAft>
                <a:spcPts val="300"/>
              </a:spcAft>
              <a:defRPr sz="1200" b="1">
                <a:solidFill>
                  <a:srgbClr val="0E1E40"/>
                </a:solidFill>
                <a:latin typeface="Segoe UI"/>
              </a:defRPr>
            </a:pPr>
            <a:r>
              <a:t>04. Quản Trị Cloud PMS &amp; Phòng Vệ Tỷ Giá</a:t>
            </a:r>
          </a:p>
          <a:p>
            <a:pPr>
              <a:defRPr sz="1000">
                <a:solidFill>
                  <a:srgbClr val="0F172A"/>
                </a:solidFill>
                <a:latin typeface="Segoe UI"/>
              </a:defRPr>
            </a:pPr>
            <a:r>
              <a:t>Hồ sơ bệnh án điện tử Cloud PMS theo thời gian thực. Bảng giá niêm yết neo chuẩn USD/THB, quy đổi Kip theo ngày, triệt tiêu hoàn toàn rủi ro mất giá đồng Kip.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03. Dự Toán Tổng Mức Đầu Tư Ban Đầu (CAPEX)</a:t>
            </a:r>
          </a:p>
          <a:p>
            <a:pPr>
              <a:defRPr sz="1200" b="1">
                <a:solidFill>
                  <a:srgbClr val="0284C7"/>
                </a:solidFill>
                <a:latin typeface="Segoe UI"/>
              </a:defRPr>
            </a:pPr>
            <a:r>
              <a:t>Quy mô đầu tư chuẩn xác: 125.798 USD (~3,26 Tỷ VNĐ) — Tiền nhà trả trước 1 năm ($6.000 USD)</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03</a:t>
            </a:r>
          </a:p>
        </p:txBody>
      </p:sp>
      <p:graphicFrame>
        <p:nvGraphicFramePr>
          <p:cNvPr id="7" name="Table 6"/>
          <p:cNvGraphicFramePr>
            <a:graphicFrameLocks noGrp="1"/>
          </p:cNvGraphicFramePr>
          <p:nvPr/>
        </p:nvGraphicFramePr>
        <p:xfrm>
          <a:off x="731520" y="1554480"/>
          <a:ext cx="6858000" cy="4754880"/>
        </p:xfrm>
        <a:graphic>
          <a:graphicData uri="http://schemas.openxmlformats.org/drawingml/2006/table">
            <a:tbl>
              <a:tblPr firstRow="1" bandRow="1">
                <a:tableStyleId>{5C22544A-7EE6-4342-B048-85BDC9FD1C3A}</a:tableStyleId>
              </a:tblPr>
              <a:tblGrid>
                <a:gridCol w="3291840"/>
                <a:gridCol w="1188720"/>
                <a:gridCol w="1371600"/>
                <a:gridCol w="1005840"/>
              </a:tblGrid>
              <a:tr h="594360">
                <a:tc>
                  <a:txBody>
                    <a:bodyPr/>
                    <a:lstStyle/>
                    <a:p>
                      <a:pPr algn="ctr">
                        <a:defRPr sz="1100" b="1">
                          <a:solidFill>
                            <a:srgbClr val="FFFFFF"/>
                          </a:solidFill>
                          <a:latin typeface="Segoe UI"/>
                        </a:defRPr>
                      </a:pPr>
                      <a:r>
                        <a:t>Nhóm hạng mục đầu tư</a:t>
                      </a:r>
                    </a:p>
                  </a:txBody>
                  <a:tcPr>
                    <a:solidFill>
                      <a:srgbClr val="0E1E40"/>
                    </a:solidFill>
                  </a:tcPr>
                </a:tc>
                <a:tc>
                  <a:txBody>
                    <a:bodyPr/>
                    <a:lstStyle/>
                    <a:p>
                      <a:pPr algn="ctr">
                        <a:defRPr sz="1100" b="1">
                          <a:solidFill>
                            <a:srgbClr val="FFFFFF"/>
                          </a:solidFill>
                          <a:latin typeface="Segoe UI"/>
                        </a:defRPr>
                      </a:pPr>
                      <a:r>
                        <a:t>Giá trị (USD)</a:t>
                      </a:r>
                    </a:p>
                  </a:txBody>
                  <a:tcPr>
                    <a:solidFill>
                      <a:srgbClr val="0E1E40"/>
                    </a:solidFill>
                  </a:tcPr>
                </a:tc>
                <a:tc>
                  <a:txBody>
                    <a:bodyPr/>
                    <a:lstStyle/>
                    <a:p>
                      <a:pPr algn="ctr">
                        <a:defRPr sz="1100" b="1">
                          <a:solidFill>
                            <a:srgbClr val="FFFFFF"/>
                          </a:solidFill>
                          <a:latin typeface="Segoe UI"/>
                        </a:defRPr>
                      </a:pPr>
                      <a:r>
                        <a:t>Quy đổi (VNĐ)</a:t>
                      </a:r>
                    </a:p>
                  </a:txBody>
                  <a:tcPr>
                    <a:solidFill>
                      <a:srgbClr val="0E1E40"/>
                    </a:solidFill>
                  </a:tcPr>
                </a:tc>
                <a:tc>
                  <a:txBody>
                    <a:bodyPr/>
                    <a:lstStyle/>
                    <a:p>
                      <a:pPr algn="ctr">
                        <a:defRPr sz="1100" b="1">
                          <a:solidFill>
                            <a:srgbClr val="FFFFFF"/>
                          </a:solidFill>
                          <a:latin typeface="Segoe UI"/>
                        </a:defRPr>
                      </a:pPr>
                      <a:r>
                        <a:t>Tỷ trọng</a:t>
                      </a:r>
                    </a:p>
                  </a:txBody>
                  <a:tcPr>
                    <a:solidFill>
                      <a:srgbClr val="0E1E40"/>
                    </a:solidFill>
                  </a:tcPr>
                </a:tc>
              </a:tr>
              <a:tr h="594360">
                <a:tc>
                  <a:txBody>
                    <a:bodyPr/>
                    <a:lstStyle/>
                    <a:p>
                      <a:pPr>
                        <a:defRPr sz="1000">
                          <a:latin typeface="Segoe UI"/>
                        </a:defRPr>
                      </a:pPr>
                      <a:r>
                        <a:t>A. Pháp lý, đăng ký WFOE, GP Y tế</a:t>
                      </a:r>
                    </a:p>
                  </a:txBody>
                  <a:tcPr>
                    <a:solidFill>
                      <a:srgbClr val="FFFFFF"/>
                    </a:solidFill>
                  </a:tcPr>
                </a:tc>
                <a:tc>
                  <a:txBody>
                    <a:bodyPr/>
                    <a:lstStyle/>
                    <a:p>
                      <a:pPr algn="r">
                        <a:defRPr sz="1000">
                          <a:latin typeface="Segoe UI"/>
                        </a:defRPr>
                      </a:pPr>
                      <a:r>
                        <a:t>$8.000</a:t>
                      </a:r>
                    </a:p>
                  </a:txBody>
                  <a:tcPr>
                    <a:solidFill>
                      <a:srgbClr val="FFFFFF"/>
                    </a:solidFill>
                  </a:tcPr>
                </a:tc>
                <a:tc>
                  <a:txBody>
                    <a:bodyPr/>
                    <a:lstStyle/>
                    <a:p>
                      <a:pPr algn="r">
                        <a:defRPr sz="1000">
                          <a:latin typeface="Segoe UI"/>
                        </a:defRPr>
                      </a:pPr>
                      <a:r>
                        <a:t>207,1 Triệu</a:t>
                      </a:r>
                    </a:p>
                  </a:txBody>
                  <a:tcPr>
                    <a:solidFill>
                      <a:srgbClr val="FFFFFF"/>
                    </a:solidFill>
                  </a:tcPr>
                </a:tc>
                <a:tc>
                  <a:txBody>
                    <a:bodyPr/>
                    <a:lstStyle/>
                    <a:p>
                      <a:pPr algn="r">
                        <a:defRPr sz="1000">
                          <a:latin typeface="Segoe UI"/>
                        </a:defRPr>
                      </a:pPr>
                      <a:r>
                        <a:t>6,4%</a:t>
                      </a:r>
                    </a:p>
                  </a:txBody>
                  <a:tcPr>
                    <a:solidFill>
                      <a:srgbClr val="FFFFFF"/>
                    </a:solidFill>
                  </a:tcPr>
                </a:tc>
              </a:tr>
              <a:tr h="594360">
                <a:tc>
                  <a:txBody>
                    <a:bodyPr/>
                    <a:lstStyle/>
                    <a:p>
                      <a:pPr>
                        <a:defRPr sz="1000">
                          <a:latin typeface="Segoe UI"/>
                        </a:defRPr>
                      </a:pPr>
                      <a:r>
                        <a:t>B. Mặt bằng trả trước 1 năm ($500/th) &amp; Cải tạo</a:t>
                      </a:r>
                    </a:p>
                  </a:txBody>
                  <a:tcPr>
                    <a:solidFill>
                      <a:srgbClr val="F1F5F9"/>
                    </a:solidFill>
                  </a:tcPr>
                </a:tc>
                <a:tc>
                  <a:txBody>
                    <a:bodyPr/>
                    <a:lstStyle/>
                    <a:p>
                      <a:pPr algn="r">
                        <a:defRPr sz="1000">
                          <a:latin typeface="Segoe UI"/>
                        </a:defRPr>
                      </a:pPr>
                      <a:r>
                        <a:t>$9.000</a:t>
                      </a:r>
                    </a:p>
                  </a:txBody>
                  <a:tcPr>
                    <a:solidFill>
                      <a:srgbClr val="F1F5F9"/>
                    </a:solidFill>
                  </a:tcPr>
                </a:tc>
                <a:tc>
                  <a:txBody>
                    <a:bodyPr/>
                    <a:lstStyle/>
                    <a:p>
                      <a:pPr algn="r">
                        <a:defRPr sz="1000">
                          <a:latin typeface="Segoe UI"/>
                        </a:defRPr>
                      </a:pPr>
                      <a:r>
                        <a:t>232,9 Triệu</a:t>
                      </a:r>
                    </a:p>
                  </a:txBody>
                  <a:tcPr>
                    <a:solidFill>
                      <a:srgbClr val="F1F5F9"/>
                    </a:solidFill>
                  </a:tcPr>
                </a:tc>
                <a:tc>
                  <a:txBody>
                    <a:bodyPr/>
                    <a:lstStyle/>
                    <a:p>
                      <a:pPr algn="r">
                        <a:defRPr sz="1000">
                          <a:latin typeface="Segoe UI"/>
                        </a:defRPr>
                      </a:pPr>
                      <a:r>
                        <a:t>7,2%</a:t>
                      </a:r>
                    </a:p>
                  </a:txBody>
                  <a:tcPr>
                    <a:solidFill>
                      <a:srgbClr val="F1F5F9"/>
                    </a:solidFill>
                  </a:tcPr>
                </a:tc>
              </a:tr>
              <a:tr h="594360">
                <a:tc>
                  <a:txBody>
                    <a:bodyPr/>
                    <a:lstStyle/>
                    <a:p>
                      <a:pPr>
                        <a:defRPr sz="1000">
                          <a:latin typeface="Segoe UI"/>
                        </a:defRPr>
                      </a:pPr>
                      <a:r>
                        <a:t>C. Máy móc thiết bị (Máy CT 3D $40k, 3 Ghế...)</a:t>
                      </a:r>
                    </a:p>
                  </a:txBody>
                  <a:tcPr>
                    <a:solidFill>
                      <a:srgbClr val="FFFFFF"/>
                    </a:solidFill>
                  </a:tcPr>
                </a:tc>
                <a:tc>
                  <a:txBody>
                    <a:bodyPr/>
                    <a:lstStyle/>
                    <a:p>
                      <a:pPr algn="r">
                        <a:defRPr sz="1000">
                          <a:latin typeface="Segoe UI"/>
                        </a:defRPr>
                      </a:pPr>
                      <a:r>
                        <a:t>$61.700</a:t>
                      </a:r>
                    </a:p>
                  </a:txBody>
                  <a:tcPr>
                    <a:solidFill>
                      <a:srgbClr val="FFFFFF"/>
                    </a:solidFill>
                  </a:tcPr>
                </a:tc>
                <a:tc>
                  <a:txBody>
                    <a:bodyPr/>
                    <a:lstStyle/>
                    <a:p>
                      <a:pPr algn="r">
                        <a:defRPr sz="1000">
                          <a:latin typeface="Segoe UI"/>
                        </a:defRPr>
                      </a:pPr>
                      <a:r>
                        <a:t>1.597,0 Triệu</a:t>
                      </a:r>
                    </a:p>
                  </a:txBody>
                  <a:tcPr>
                    <a:solidFill>
                      <a:srgbClr val="FFFFFF"/>
                    </a:solidFill>
                  </a:tcPr>
                </a:tc>
                <a:tc>
                  <a:txBody>
                    <a:bodyPr/>
                    <a:lstStyle/>
                    <a:p>
                      <a:pPr algn="r">
                        <a:defRPr sz="1000">
                          <a:latin typeface="Segoe UI"/>
                        </a:defRPr>
                      </a:pPr>
                      <a:r>
                        <a:t>49,0%</a:t>
                      </a:r>
                    </a:p>
                  </a:txBody>
                  <a:tcPr>
                    <a:solidFill>
                      <a:srgbClr val="FFFFFF"/>
                    </a:solidFill>
                  </a:tcPr>
                </a:tc>
              </a:tr>
              <a:tr h="594360">
                <a:tc>
                  <a:txBody>
                    <a:bodyPr/>
                    <a:lstStyle/>
                    <a:p>
                      <a:pPr>
                        <a:defRPr sz="1000">
                          <a:latin typeface="Segoe UI"/>
                        </a:defRPr>
                      </a:pPr>
                      <a:r>
                        <a:t>D. Nội thất sảnh đón, CNTT, Biển bảng OOH</a:t>
                      </a:r>
                    </a:p>
                  </a:txBody>
                  <a:tcPr>
                    <a:solidFill>
                      <a:srgbClr val="F1F5F9"/>
                    </a:solidFill>
                  </a:tcPr>
                </a:tc>
                <a:tc>
                  <a:txBody>
                    <a:bodyPr/>
                    <a:lstStyle/>
                    <a:p>
                      <a:pPr algn="r">
                        <a:defRPr sz="1000">
                          <a:latin typeface="Segoe UI"/>
                        </a:defRPr>
                      </a:pPr>
                      <a:r>
                        <a:t>$13.000</a:t>
                      </a:r>
                    </a:p>
                  </a:txBody>
                  <a:tcPr>
                    <a:solidFill>
                      <a:srgbClr val="F1F5F9"/>
                    </a:solidFill>
                  </a:tcPr>
                </a:tc>
                <a:tc>
                  <a:txBody>
                    <a:bodyPr/>
                    <a:lstStyle/>
                    <a:p>
                      <a:pPr algn="r">
                        <a:defRPr sz="1000">
                          <a:latin typeface="Segoe UI"/>
                        </a:defRPr>
                      </a:pPr>
                      <a:r>
                        <a:t>336,5 Triệu</a:t>
                      </a:r>
                    </a:p>
                  </a:txBody>
                  <a:tcPr>
                    <a:solidFill>
                      <a:srgbClr val="F1F5F9"/>
                    </a:solidFill>
                  </a:tcPr>
                </a:tc>
                <a:tc>
                  <a:txBody>
                    <a:bodyPr/>
                    <a:lstStyle/>
                    <a:p>
                      <a:pPr algn="r">
                        <a:defRPr sz="1000">
                          <a:latin typeface="Segoe UI"/>
                        </a:defRPr>
                      </a:pPr>
                      <a:r>
                        <a:t>10,3%</a:t>
                      </a:r>
                    </a:p>
                  </a:txBody>
                  <a:tcPr>
                    <a:solidFill>
                      <a:srgbClr val="F1F5F9"/>
                    </a:solidFill>
                  </a:tcPr>
                </a:tc>
              </a:tr>
              <a:tr h="594360">
                <a:tc>
                  <a:txBody>
                    <a:bodyPr/>
                    <a:lstStyle/>
                    <a:p>
                      <a:pPr>
                        <a:defRPr sz="1000">
                          <a:latin typeface="Segoe UI"/>
                        </a:defRPr>
                      </a:pPr>
                      <a:r>
                        <a:t>E. Lương &amp; Đào tạo 1 tháng trước khai trương</a:t>
                      </a:r>
                    </a:p>
                  </a:txBody>
                  <a:tcPr>
                    <a:solidFill>
                      <a:srgbClr val="FFFFFF"/>
                    </a:solidFill>
                  </a:tcPr>
                </a:tc>
                <a:tc>
                  <a:txBody>
                    <a:bodyPr/>
                    <a:lstStyle/>
                    <a:p>
                      <a:pPr algn="r">
                        <a:defRPr sz="1000">
                          <a:latin typeface="Segoe UI"/>
                        </a:defRPr>
                      </a:pPr>
                      <a:r>
                        <a:t>$6.455</a:t>
                      </a:r>
                    </a:p>
                  </a:txBody>
                  <a:tcPr>
                    <a:solidFill>
                      <a:srgbClr val="FFFFFF"/>
                    </a:solidFill>
                  </a:tcPr>
                </a:tc>
                <a:tc>
                  <a:txBody>
                    <a:bodyPr/>
                    <a:lstStyle/>
                    <a:p>
                      <a:pPr algn="r">
                        <a:defRPr sz="1000">
                          <a:latin typeface="Segoe UI"/>
                        </a:defRPr>
                      </a:pPr>
                      <a:r>
                        <a:t>167,1 Triệu</a:t>
                      </a:r>
                    </a:p>
                  </a:txBody>
                  <a:tcPr>
                    <a:solidFill>
                      <a:srgbClr val="FFFFFF"/>
                    </a:solidFill>
                  </a:tcPr>
                </a:tc>
                <a:tc>
                  <a:txBody>
                    <a:bodyPr/>
                    <a:lstStyle/>
                    <a:p>
                      <a:pPr algn="r">
                        <a:defRPr sz="1000">
                          <a:latin typeface="Segoe UI"/>
                        </a:defRPr>
                      </a:pPr>
                      <a:r>
                        <a:t>5,1%</a:t>
                      </a:r>
                    </a:p>
                  </a:txBody>
                  <a:tcPr>
                    <a:solidFill>
                      <a:srgbClr val="FFFFFF"/>
                    </a:solidFill>
                  </a:tcPr>
                </a:tc>
              </a:tr>
              <a:tr h="594360">
                <a:tc>
                  <a:txBody>
                    <a:bodyPr/>
                    <a:lstStyle/>
                    <a:p>
                      <a:pPr>
                        <a:defRPr sz="1000">
                          <a:latin typeface="Segoe UI"/>
                        </a:defRPr>
                      </a:pPr>
                      <a:r>
                        <a:t>F. Dự phòng phí 10% &amp; Đệm vốn lưu động</a:t>
                      </a:r>
                    </a:p>
                  </a:txBody>
                  <a:tcPr>
                    <a:solidFill>
                      <a:srgbClr val="F1F5F9"/>
                    </a:solidFill>
                  </a:tcPr>
                </a:tc>
                <a:tc>
                  <a:txBody>
                    <a:bodyPr/>
                    <a:lstStyle/>
                    <a:p>
                      <a:pPr algn="r">
                        <a:defRPr sz="1000">
                          <a:latin typeface="Segoe UI"/>
                        </a:defRPr>
                      </a:pPr>
                      <a:r>
                        <a:t>$27.643</a:t>
                      </a:r>
                    </a:p>
                  </a:txBody>
                  <a:tcPr>
                    <a:solidFill>
                      <a:srgbClr val="F1F5F9"/>
                    </a:solidFill>
                  </a:tcPr>
                </a:tc>
                <a:tc>
                  <a:txBody>
                    <a:bodyPr/>
                    <a:lstStyle/>
                    <a:p>
                      <a:pPr algn="r">
                        <a:defRPr sz="1000">
                          <a:latin typeface="Segoe UI"/>
                        </a:defRPr>
                      </a:pPr>
                      <a:r>
                        <a:t>715,5 Triệu</a:t>
                      </a:r>
                    </a:p>
                  </a:txBody>
                  <a:tcPr>
                    <a:solidFill>
                      <a:srgbClr val="F1F5F9"/>
                    </a:solidFill>
                  </a:tcPr>
                </a:tc>
                <a:tc>
                  <a:txBody>
                    <a:bodyPr/>
                    <a:lstStyle/>
                    <a:p>
                      <a:pPr algn="r">
                        <a:defRPr sz="1000">
                          <a:latin typeface="Segoe UI"/>
                        </a:defRPr>
                      </a:pPr>
                      <a:r>
                        <a:t>22,0%</a:t>
                      </a:r>
                    </a:p>
                  </a:txBody>
                  <a:tcPr>
                    <a:solidFill>
                      <a:srgbClr val="F1F5F9"/>
                    </a:solidFill>
                  </a:tcPr>
                </a:tc>
              </a:tr>
              <a:tr h="594360">
                <a:tc>
                  <a:txBody>
                    <a:bodyPr/>
                    <a:lstStyle/>
                    <a:p>
                      <a:pPr>
                        <a:defRPr sz="1050" b="1">
                          <a:solidFill>
                            <a:srgbClr val="0E1E40"/>
                          </a:solidFill>
                          <a:latin typeface="Segoe UI"/>
                        </a:defRPr>
                      </a:pPr>
                      <a:r>
                        <a:t>TỔNG MỨC ĐẦU TƯ BAN ĐẦU (CAPEX)</a:t>
                      </a:r>
                    </a:p>
                  </a:txBody>
                  <a:tcPr>
                    <a:solidFill>
                      <a:srgbClr val="FEF3C7"/>
                    </a:solidFill>
                  </a:tcPr>
                </a:tc>
                <a:tc>
                  <a:txBody>
                    <a:bodyPr/>
                    <a:lstStyle/>
                    <a:p>
                      <a:pPr algn="r">
                        <a:defRPr sz="1050" b="1">
                          <a:solidFill>
                            <a:srgbClr val="D97706"/>
                          </a:solidFill>
                          <a:latin typeface="Segoe UI"/>
                        </a:defRPr>
                      </a:pPr>
                      <a:r>
                        <a:t>$125.798</a:t>
                      </a:r>
                    </a:p>
                  </a:txBody>
                  <a:tcPr>
                    <a:solidFill>
                      <a:srgbClr val="FEF3C7"/>
                    </a:solidFill>
                  </a:tcPr>
                </a:tc>
                <a:tc>
                  <a:txBody>
                    <a:bodyPr/>
                    <a:lstStyle/>
                    <a:p>
                      <a:pPr algn="r">
                        <a:defRPr sz="1050" b="1">
                          <a:solidFill>
                            <a:srgbClr val="0E1E40"/>
                          </a:solidFill>
                          <a:latin typeface="Segoe UI"/>
                        </a:defRPr>
                      </a:pPr>
                      <a:r>
                        <a:t>3.256,0 Triệu</a:t>
                      </a:r>
                    </a:p>
                  </a:txBody>
                  <a:tcPr>
                    <a:solidFill>
                      <a:srgbClr val="FEF3C7"/>
                    </a:solidFill>
                  </a:tcPr>
                </a:tc>
                <a:tc>
                  <a:txBody>
                    <a:bodyPr/>
                    <a:lstStyle/>
                    <a:p>
                      <a:pPr algn="r">
                        <a:defRPr sz="1050" b="1">
                          <a:solidFill>
                            <a:srgbClr val="0E1E40"/>
                          </a:solidFill>
                          <a:latin typeface="Segoe UI"/>
                        </a:defRPr>
                      </a:pPr>
                      <a:r>
                        <a:t>100,0%</a:t>
                      </a:r>
                    </a:p>
                  </a:txBody>
                  <a:tcPr>
                    <a:solidFill>
                      <a:srgbClr val="FEF3C7"/>
                    </a:solidFill>
                  </a:tcPr>
                </a:tc>
              </a:tr>
            </a:tbl>
          </a:graphicData>
        </a:graphic>
      </p:graphicFrame>
      <p:sp>
        <p:nvSpPr>
          <p:cNvPr id="8" name="Rounded Rectangle 7"/>
          <p:cNvSpPr/>
          <p:nvPr/>
        </p:nvSpPr>
        <p:spPr>
          <a:xfrm>
            <a:off x="7772400" y="1554480"/>
            <a:ext cx="3687775" cy="15087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1554480"/>
            <a:ext cx="109728" cy="15087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627632"/>
            <a:ext cx="3337560" cy="1371600"/>
          </a:xfrm>
          <a:prstGeom prst="rect">
            <a:avLst/>
          </a:prstGeom>
          <a:noFill/>
        </p:spPr>
        <p:txBody>
          <a:bodyPr wrap="square">
            <a:spAutoFit/>
          </a:bodyPr>
          <a:lstStyle/>
          <a:p>
            <a:pPr>
              <a:defRPr sz="1000" b="1">
                <a:solidFill>
                  <a:srgbClr val="475569"/>
                </a:solidFill>
                <a:latin typeface="Segoe UI"/>
              </a:defRPr>
            </a:pPr>
            <a:r>
              <a:t>TIỀN NHÀ TRẢ THẲNG 1 NĂM</a:t>
            </a:r>
          </a:p>
          <a:p>
            <a:pPr>
              <a:spcAft>
                <a:spcPts val="200"/>
              </a:spcAft>
              <a:defRPr sz="1500" b="1">
                <a:solidFill>
                  <a:srgbClr val="0284C7"/>
                </a:solidFill>
                <a:latin typeface="Segoe UI"/>
              </a:defRPr>
            </a:pPr>
            <a:r>
              <a:t>$6.000 USD (155,3 Tr)</a:t>
            </a:r>
          </a:p>
          <a:p>
            <a:pPr>
              <a:defRPr sz="919">
                <a:solidFill>
                  <a:srgbClr val="0F172A"/>
                </a:solidFill>
                <a:latin typeface="Segoe UI"/>
              </a:defRPr>
            </a:pPr>
            <a:r>
              <a:t>Được thanh toán trọn gói trong vốn ban đầu ($500/tháng x 12 tháng). Suốt Năm thứ 1, phòng khám KHÔNG phải trả tiền thuê mặt bằng hàng tháng, dòng tiền tự do dôi dư đẩy nhanh hoàn vốn.</a:t>
            </a:r>
          </a:p>
        </p:txBody>
      </p:sp>
      <p:sp>
        <p:nvSpPr>
          <p:cNvPr id="11" name="Rounded Rectangle 10"/>
          <p:cNvSpPr/>
          <p:nvPr/>
        </p:nvSpPr>
        <p:spPr>
          <a:xfrm>
            <a:off x="7772400" y="3154680"/>
            <a:ext cx="3687775" cy="15087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3154680"/>
            <a:ext cx="109728" cy="150876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3227832"/>
            <a:ext cx="3337560" cy="1371600"/>
          </a:xfrm>
          <a:prstGeom prst="rect">
            <a:avLst/>
          </a:prstGeom>
          <a:noFill/>
        </p:spPr>
        <p:txBody>
          <a:bodyPr wrap="square">
            <a:spAutoFit/>
          </a:bodyPr>
          <a:lstStyle/>
          <a:p>
            <a:pPr>
              <a:defRPr sz="1000" b="1">
                <a:solidFill>
                  <a:srgbClr val="475569"/>
                </a:solidFill>
                <a:latin typeface="Segoe UI"/>
              </a:defRPr>
            </a:pPr>
            <a:r>
              <a:t>CƠ SỞ TÍNH KHẤU HAO TÀI SẢN</a:t>
            </a:r>
          </a:p>
          <a:p>
            <a:pPr>
              <a:spcAft>
                <a:spcPts val="200"/>
              </a:spcAft>
              <a:defRPr sz="1500" b="1">
                <a:solidFill>
                  <a:srgbClr val="0E1E40"/>
                </a:solidFill>
                <a:latin typeface="Segoe UI"/>
              </a:defRPr>
            </a:pPr>
            <a:r>
              <a:t>$82.700 USD (2.140 Tr)</a:t>
            </a:r>
          </a:p>
          <a:p>
            <a:pPr>
              <a:defRPr sz="919">
                <a:solidFill>
                  <a:srgbClr val="0F172A"/>
                </a:solidFill>
                <a:latin typeface="Segoe UI"/>
              </a:defRPr>
            </a:pPr>
            <a:r>
              <a:t>Bao gồm máy móc y tế, máy CT 3D, chi phí thi công phòng chì và pháp lý. Khấu hao đường thẳng 60 tháng: 35,67 triệu VNĐ/tháng.</a:t>
            </a:r>
          </a:p>
        </p:txBody>
      </p:sp>
      <p:sp>
        <p:nvSpPr>
          <p:cNvPr id="14" name="Rounded Rectangle 13"/>
          <p:cNvSpPr/>
          <p:nvPr/>
        </p:nvSpPr>
        <p:spPr>
          <a:xfrm>
            <a:off x="7772400" y="4754880"/>
            <a:ext cx="3687775" cy="150876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4754880"/>
            <a:ext cx="109728" cy="1508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4828032"/>
            <a:ext cx="3337560" cy="1371600"/>
          </a:xfrm>
          <a:prstGeom prst="rect">
            <a:avLst/>
          </a:prstGeom>
          <a:noFill/>
        </p:spPr>
        <p:txBody>
          <a:bodyPr wrap="square">
            <a:spAutoFit/>
          </a:bodyPr>
          <a:lstStyle/>
          <a:p>
            <a:pPr>
              <a:defRPr sz="1000" b="1">
                <a:solidFill>
                  <a:srgbClr val="475569"/>
                </a:solidFill>
                <a:latin typeface="Segoe UI"/>
              </a:defRPr>
            </a:pPr>
            <a:r>
              <a:t>ĐỆM AN TOÀN VỐN LƯU ĐỘNG</a:t>
            </a:r>
          </a:p>
          <a:p>
            <a:pPr>
              <a:spcAft>
                <a:spcPts val="200"/>
              </a:spcAft>
              <a:defRPr sz="1500" b="1">
                <a:solidFill>
                  <a:srgbClr val="059669"/>
                </a:solidFill>
                <a:latin typeface="Segoe UI"/>
              </a:defRPr>
            </a:pPr>
            <a:r>
              <a:t>$27.643 USD (715,5 Tr)</a:t>
            </a:r>
          </a:p>
          <a:p>
            <a:pPr>
              <a:defRPr sz="919">
                <a:solidFill>
                  <a:srgbClr val="0F172A"/>
                </a:solidFill>
                <a:latin typeface="Segoe UI"/>
              </a:defRPr>
            </a:pPr>
            <a:r>
              <a:t>Gồm vốn lưu động đệm an toàn $16.018 USD và dự phòng phí phát sinh 10% ($11.625 USD). Đảm bảo vận hành an toàn tuyệt đối ngay cả khi mở cửa đầu kỳ.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04. Định Mức Chi Phí Vận Hành (OPEX) &amp; Chi Phí Tự Nuôi</a:t>
            </a:r>
          </a:p>
          <a:p>
            <a:pPr>
              <a:defRPr sz="1200" b="1">
                <a:solidFill>
                  <a:srgbClr val="0284C7"/>
                </a:solidFill>
                <a:latin typeface="Segoe UI"/>
              </a:defRPr>
            </a:pPr>
            <a:r>
              <a:t>Định phí bộ máy 345,3 Triệu VNĐ/tháng ($13.342 USD) &amp; Cơ chế chi phí biến đổi tự nuôi sau thu</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04</a:t>
            </a:r>
          </a:p>
        </p:txBody>
      </p:sp>
      <p:graphicFrame>
        <p:nvGraphicFramePr>
          <p:cNvPr id="7" name="Table 6"/>
          <p:cNvGraphicFramePr>
            <a:graphicFrameLocks noGrp="1"/>
          </p:cNvGraphicFramePr>
          <p:nvPr/>
        </p:nvGraphicFramePr>
        <p:xfrm>
          <a:off x="731520" y="1554480"/>
          <a:ext cx="6217920" cy="4754880"/>
        </p:xfrm>
        <a:graphic>
          <a:graphicData uri="http://schemas.openxmlformats.org/drawingml/2006/table">
            <a:tbl>
              <a:tblPr firstRow="1" bandRow="1">
                <a:tableStyleId>{5C22544A-7EE6-4342-B048-85BDC9FD1C3A}</a:tableStyleId>
              </a:tblPr>
              <a:tblGrid>
                <a:gridCol w="2560320"/>
                <a:gridCol w="1005840"/>
                <a:gridCol w="1280160"/>
                <a:gridCol w="1371600"/>
              </a:tblGrid>
              <a:tr h="594360">
                <a:tc>
                  <a:txBody>
                    <a:bodyPr/>
                    <a:lstStyle/>
                    <a:p>
                      <a:pPr algn="ctr">
                        <a:defRPr sz="1050" b="1">
                          <a:solidFill>
                            <a:srgbClr val="FFFFFF"/>
                          </a:solidFill>
                          <a:latin typeface="Segoe UI"/>
                        </a:defRPr>
                      </a:pPr>
                      <a:r>
                        <a:t>Hạng mục chi phí cố định</a:t>
                      </a:r>
                    </a:p>
                  </a:txBody>
                  <a:tcPr>
                    <a:solidFill>
                      <a:srgbClr val="0E1E40"/>
                    </a:solidFill>
                  </a:tcPr>
                </a:tc>
                <a:tc>
                  <a:txBody>
                    <a:bodyPr/>
                    <a:lstStyle/>
                    <a:p>
                      <a:pPr algn="ctr">
                        <a:defRPr sz="1050" b="1">
                          <a:solidFill>
                            <a:srgbClr val="FFFFFF"/>
                          </a:solidFill>
                          <a:latin typeface="Segoe UI"/>
                        </a:defRPr>
                      </a:pPr>
                      <a:r>
                        <a:t>Số lượng</a:t>
                      </a:r>
                    </a:p>
                  </a:txBody>
                  <a:tcPr>
                    <a:solidFill>
                      <a:srgbClr val="0E1E40"/>
                    </a:solidFill>
                  </a:tcPr>
                </a:tc>
                <a:tc>
                  <a:txBody>
                    <a:bodyPr/>
                    <a:lstStyle/>
                    <a:p>
                      <a:pPr algn="ctr">
                        <a:defRPr sz="1050" b="1">
                          <a:solidFill>
                            <a:srgbClr val="FFFFFF"/>
                          </a:solidFill>
                          <a:latin typeface="Segoe UI"/>
                        </a:defRPr>
                      </a:pPr>
                      <a:r>
                        <a:t>Đơn giá gốc</a:t>
                      </a:r>
                    </a:p>
                  </a:txBody>
                  <a:tcPr>
                    <a:solidFill>
                      <a:srgbClr val="0E1E40"/>
                    </a:solidFill>
                  </a:tcPr>
                </a:tc>
                <a:tc>
                  <a:txBody>
                    <a:bodyPr/>
                    <a:lstStyle/>
                    <a:p>
                      <a:pPr algn="ctr">
                        <a:defRPr sz="1050" b="1">
                          <a:solidFill>
                            <a:srgbClr val="FFFFFF"/>
                          </a:solidFill>
                          <a:latin typeface="Segoe UI"/>
                        </a:defRPr>
                      </a:pPr>
                      <a:r>
                        <a:t>Thành tiền / Tháng</a:t>
                      </a:r>
                    </a:p>
                  </a:txBody>
                  <a:tcPr>
                    <a:solidFill>
                      <a:srgbClr val="0E1E40"/>
                    </a:solidFill>
                  </a:tcPr>
                </a:tc>
              </a:tr>
              <a:tr h="594360">
                <a:tc>
                  <a:txBody>
                    <a:bodyPr/>
                    <a:lstStyle/>
                    <a:p>
                      <a:pPr>
                        <a:defRPr sz="1000">
                          <a:latin typeface="Segoe UI"/>
                        </a:defRPr>
                      </a:pPr>
                      <a:r>
                        <a:t>2 Bác sĩ nha khoa (Việt Nam)</a:t>
                      </a:r>
                    </a:p>
                  </a:txBody>
                  <a:tcPr>
                    <a:solidFill>
                      <a:srgbClr val="FFFFFF"/>
                    </a:solidFill>
                  </a:tcPr>
                </a:tc>
                <a:tc>
                  <a:txBody>
                    <a:bodyPr/>
                    <a:lstStyle/>
                    <a:p>
                      <a:pPr algn="r">
                        <a:defRPr sz="1000">
                          <a:latin typeface="Segoe UI"/>
                        </a:defRPr>
                      </a:pPr>
                      <a:r>
                        <a:t>2 người</a:t>
                      </a:r>
                    </a:p>
                  </a:txBody>
                  <a:tcPr>
                    <a:solidFill>
                      <a:srgbClr val="FFFFFF"/>
                    </a:solidFill>
                  </a:tcPr>
                </a:tc>
                <a:tc>
                  <a:txBody>
                    <a:bodyPr/>
                    <a:lstStyle/>
                    <a:p>
                      <a:pPr algn="r">
                        <a:defRPr sz="1000">
                          <a:latin typeface="Segoe UI"/>
                        </a:defRPr>
                      </a:pPr>
                      <a:r>
                        <a:t>$2.000 USD</a:t>
                      </a:r>
                    </a:p>
                  </a:txBody>
                  <a:tcPr>
                    <a:solidFill>
                      <a:srgbClr val="FFFFFF"/>
                    </a:solidFill>
                  </a:tcPr>
                </a:tc>
                <a:tc>
                  <a:txBody>
                    <a:bodyPr/>
                    <a:lstStyle/>
                    <a:p>
                      <a:pPr algn="r">
                        <a:defRPr sz="1000">
                          <a:latin typeface="Segoe UI"/>
                        </a:defRPr>
                      </a:pPr>
                      <a:r>
                        <a:t>103,5 Tr / tháng</a:t>
                      </a:r>
                    </a:p>
                  </a:txBody>
                  <a:tcPr>
                    <a:solidFill>
                      <a:srgbClr val="FFFFFF"/>
                    </a:solidFill>
                  </a:tcPr>
                </a:tc>
              </a:tr>
              <a:tr h="594360">
                <a:tc>
                  <a:txBody>
                    <a:bodyPr/>
                    <a:lstStyle/>
                    <a:p>
                      <a:pPr>
                        <a:defRPr sz="1000">
                          <a:latin typeface="Segoe UI"/>
                        </a:defRPr>
                      </a:pPr>
                      <a:r>
                        <a:t>3 Phụ tá nha khoa, tiệt trùng</a:t>
                      </a:r>
                    </a:p>
                  </a:txBody>
                  <a:tcPr>
                    <a:solidFill>
                      <a:srgbClr val="F1F5F9"/>
                    </a:solidFill>
                  </a:tcPr>
                </a:tc>
                <a:tc>
                  <a:txBody>
                    <a:bodyPr/>
                    <a:lstStyle/>
                    <a:p>
                      <a:pPr algn="r">
                        <a:defRPr sz="1000">
                          <a:latin typeface="Segoe UI"/>
                        </a:defRPr>
                      </a:pPr>
                      <a:r>
                        <a:t>3 người</a:t>
                      </a:r>
                    </a:p>
                  </a:txBody>
                  <a:tcPr>
                    <a:solidFill>
                      <a:srgbClr val="F1F5F9"/>
                    </a:solidFill>
                  </a:tcPr>
                </a:tc>
                <a:tc>
                  <a:txBody>
                    <a:bodyPr/>
                    <a:lstStyle/>
                    <a:p>
                      <a:pPr algn="r">
                        <a:defRPr sz="1000">
                          <a:latin typeface="Segoe UI"/>
                        </a:defRPr>
                      </a:pPr>
                      <a:r>
                        <a:t>8M LAK/người</a:t>
                      </a:r>
                    </a:p>
                  </a:txBody>
                  <a:tcPr>
                    <a:solidFill>
                      <a:srgbClr val="F1F5F9"/>
                    </a:solidFill>
                  </a:tcPr>
                </a:tc>
                <a:tc>
                  <a:txBody>
                    <a:bodyPr/>
                    <a:lstStyle/>
                    <a:p>
                      <a:pPr algn="r">
                        <a:defRPr sz="1000">
                          <a:latin typeface="Segoe UI"/>
                        </a:defRPr>
                      </a:pPr>
                      <a:r>
                        <a:t>27,7 Tr / tháng</a:t>
                      </a:r>
                    </a:p>
                  </a:txBody>
                  <a:tcPr>
                    <a:solidFill>
                      <a:srgbClr val="F1F5F9"/>
                    </a:solidFill>
                  </a:tcPr>
                </a:tc>
              </a:tr>
              <a:tr h="594360">
                <a:tc>
                  <a:txBody>
                    <a:bodyPr/>
                    <a:lstStyle/>
                    <a:p>
                      <a:pPr>
                        <a:defRPr sz="1000">
                          <a:latin typeface="Segoe UI"/>
                        </a:defRPr>
                      </a:pPr>
                      <a:r>
                        <a:t>Lễ tân, CSKH &amp; Chuyên viên Sale</a:t>
                      </a:r>
                    </a:p>
                  </a:txBody>
                  <a:tcPr>
                    <a:solidFill>
                      <a:srgbClr val="FFFFFF"/>
                    </a:solidFill>
                  </a:tcPr>
                </a:tc>
                <a:tc>
                  <a:txBody>
                    <a:bodyPr/>
                    <a:lstStyle/>
                    <a:p>
                      <a:pPr algn="r">
                        <a:defRPr sz="1000">
                          <a:latin typeface="Segoe UI"/>
                        </a:defRPr>
                      </a:pPr>
                      <a:r>
                        <a:t>2 người</a:t>
                      </a:r>
                    </a:p>
                  </a:txBody>
                  <a:tcPr>
                    <a:solidFill>
                      <a:srgbClr val="FFFFFF"/>
                    </a:solidFill>
                  </a:tcPr>
                </a:tc>
                <a:tc>
                  <a:txBody>
                    <a:bodyPr/>
                    <a:lstStyle/>
                    <a:p>
                      <a:pPr algn="r">
                        <a:defRPr sz="1000">
                          <a:latin typeface="Segoe UI"/>
                        </a:defRPr>
                      </a:pPr>
                      <a:r>
                        <a:t>8M LAK/người</a:t>
                      </a:r>
                    </a:p>
                  </a:txBody>
                  <a:tcPr>
                    <a:solidFill>
                      <a:srgbClr val="FFFFFF"/>
                    </a:solidFill>
                  </a:tcPr>
                </a:tc>
                <a:tc>
                  <a:txBody>
                    <a:bodyPr/>
                    <a:lstStyle/>
                    <a:p>
                      <a:pPr algn="r">
                        <a:defRPr sz="1000">
                          <a:latin typeface="Segoe UI"/>
                        </a:defRPr>
                      </a:pPr>
                      <a:r>
                        <a:t>18,5 Tr / tháng</a:t>
                      </a:r>
                    </a:p>
                  </a:txBody>
                  <a:tcPr>
                    <a:solidFill>
                      <a:srgbClr val="FFFFFF"/>
                    </a:solidFill>
                  </a:tcPr>
                </a:tc>
              </a:tr>
              <a:tr h="594360">
                <a:tc>
                  <a:txBody>
                    <a:bodyPr/>
                    <a:lstStyle/>
                    <a:p>
                      <a:pPr>
                        <a:defRPr sz="1000">
                          <a:latin typeface="Segoe UI"/>
                        </a:defRPr>
                      </a:pPr>
                      <a:r>
                        <a:t>Quản lý phòng khám (Store Mgr)</a:t>
                      </a:r>
                    </a:p>
                  </a:txBody>
                  <a:tcPr>
                    <a:solidFill>
                      <a:srgbClr val="F1F5F9"/>
                    </a:solidFill>
                  </a:tcPr>
                </a:tc>
                <a:tc>
                  <a:txBody>
                    <a:bodyPr/>
                    <a:lstStyle/>
                    <a:p>
                      <a:pPr algn="r">
                        <a:defRPr sz="1000">
                          <a:latin typeface="Segoe UI"/>
                        </a:defRPr>
                      </a:pPr>
                      <a:r>
                        <a:t>1 người</a:t>
                      </a:r>
                    </a:p>
                  </a:txBody>
                  <a:tcPr>
                    <a:solidFill>
                      <a:srgbClr val="F1F5F9"/>
                    </a:solidFill>
                  </a:tcPr>
                </a:tc>
                <a:tc>
                  <a:txBody>
                    <a:bodyPr/>
                    <a:lstStyle/>
                    <a:p>
                      <a:pPr algn="r">
                        <a:defRPr sz="1000">
                          <a:latin typeface="Segoe UI"/>
                        </a:defRPr>
                      </a:pPr>
                      <a:r>
                        <a:t>15M LAK/tháng</a:t>
                      </a:r>
                    </a:p>
                  </a:txBody>
                  <a:tcPr>
                    <a:solidFill>
                      <a:srgbClr val="F1F5F9"/>
                    </a:solidFill>
                  </a:tcPr>
                </a:tc>
                <a:tc>
                  <a:txBody>
                    <a:bodyPr/>
                    <a:lstStyle/>
                    <a:p>
                      <a:pPr algn="r">
                        <a:defRPr sz="1000">
                          <a:latin typeface="Segoe UI"/>
                        </a:defRPr>
                      </a:pPr>
                      <a:r>
                        <a:t>17,3 Tr / tháng</a:t>
                      </a:r>
                    </a:p>
                  </a:txBody>
                  <a:tcPr>
                    <a:solidFill>
                      <a:srgbClr val="F1F5F9"/>
                    </a:solidFill>
                  </a:tcPr>
                </a:tc>
              </a:tr>
              <a:tr h="594360">
                <a:tc>
                  <a:txBody>
                    <a:bodyPr/>
                    <a:lstStyle/>
                    <a:p>
                      <a:pPr>
                        <a:defRPr sz="1000">
                          <a:latin typeface="Segoe UI"/>
                        </a:defRPr>
                      </a:pPr>
                      <a:r>
                        <a:t>Thuê mặt bằng ($500) + Điện nước</a:t>
                      </a:r>
                    </a:p>
                  </a:txBody>
                  <a:tcPr>
                    <a:solidFill>
                      <a:srgbClr val="FFFFFF"/>
                    </a:solidFill>
                  </a:tcPr>
                </a:tc>
                <a:tc>
                  <a:txBody>
                    <a:bodyPr/>
                    <a:lstStyle/>
                    <a:p>
                      <a:pPr algn="r">
                        <a:defRPr sz="1000">
                          <a:latin typeface="Segoe UI"/>
                        </a:defRPr>
                      </a:pPr>
                      <a:r>
                        <a:t>100m²</a:t>
                      </a:r>
                    </a:p>
                  </a:txBody>
                  <a:tcPr>
                    <a:solidFill>
                      <a:srgbClr val="FFFFFF"/>
                    </a:solidFill>
                  </a:tcPr>
                </a:tc>
                <a:tc>
                  <a:txBody>
                    <a:bodyPr/>
                    <a:lstStyle/>
                    <a:p>
                      <a:pPr algn="r">
                        <a:defRPr sz="1000">
                          <a:latin typeface="Segoe UI"/>
                        </a:defRPr>
                      </a:pPr>
                      <a:r>
                        <a:t>$900 USD</a:t>
                      </a:r>
                    </a:p>
                  </a:txBody>
                  <a:tcPr>
                    <a:solidFill>
                      <a:srgbClr val="FFFFFF"/>
                    </a:solidFill>
                  </a:tcPr>
                </a:tc>
                <a:tc>
                  <a:txBody>
                    <a:bodyPr/>
                    <a:lstStyle/>
                    <a:p>
                      <a:pPr algn="r">
                        <a:defRPr sz="1000">
                          <a:latin typeface="Segoe UI"/>
                        </a:defRPr>
                      </a:pPr>
                      <a:r>
                        <a:t>23,3 Tr / tháng</a:t>
                      </a:r>
                    </a:p>
                  </a:txBody>
                  <a:tcPr>
                    <a:solidFill>
                      <a:srgbClr val="FFFFFF"/>
                    </a:solidFill>
                  </a:tcPr>
                </a:tc>
              </a:tr>
              <a:tr h="594360">
                <a:tc>
                  <a:txBody>
                    <a:bodyPr/>
                    <a:lstStyle/>
                    <a:p>
                      <a:pPr>
                        <a:defRPr sz="1000">
                          <a:latin typeface="Segoe UI"/>
                        </a:defRPr>
                      </a:pPr>
                      <a:r>
                        <a:t>Ngân sách Marketing liên tục</a:t>
                      </a:r>
                    </a:p>
                  </a:txBody>
                  <a:tcPr>
                    <a:solidFill>
                      <a:srgbClr val="F1F5F9"/>
                    </a:solidFill>
                  </a:tcPr>
                </a:tc>
                <a:tc>
                  <a:txBody>
                    <a:bodyPr/>
                    <a:lstStyle/>
                    <a:p>
                      <a:pPr algn="r">
                        <a:defRPr sz="1000">
                          <a:latin typeface="Segoe UI"/>
                        </a:defRPr>
                      </a:pPr>
                      <a:r>
                        <a:t>Thường xuyên</a:t>
                      </a:r>
                    </a:p>
                  </a:txBody>
                  <a:tcPr>
                    <a:solidFill>
                      <a:srgbClr val="F1F5F9"/>
                    </a:solidFill>
                  </a:tcPr>
                </a:tc>
                <a:tc>
                  <a:txBody>
                    <a:bodyPr/>
                    <a:lstStyle/>
                    <a:p>
                      <a:pPr algn="r">
                        <a:defRPr sz="1000">
                          <a:latin typeface="Segoe UI"/>
                        </a:defRPr>
                      </a:pPr>
                      <a:r>
                        <a:t>$5.000 USD</a:t>
                      </a:r>
                    </a:p>
                  </a:txBody>
                  <a:tcPr>
                    <a:solidFill>
                      <a:srgbClr val="F1F5F9"/>
                    </a:solidFill>
                  </a:tcPr>
                </a:tc>
                <a:tc>
                  <a:txBody>
                    <a:bodyPr/>
                    <a:lstStyle/>
                    <a:p>
                      <a:pPr algn="r">
                        <a:defRPr sz="1000">
                          <a:latin typeface="Segoe UI"/>
                        </a:defRPr>
                      </a:pPr>
                      <a:r>
                        <a:t>129,4 Tr / tháng</a:t>
                      </a:r>
                    </a:p>
                  </a:txBody>
                  <a:tcPr>
                    <a:solidFill>
                      <a:srgbClr val="F1F5F9"/>
                    </a:solidFill>
                  </a:tcPr>
                </a:tc>
              </a:tr>
              <a:tr h="594360">
                <a:tc>
                  <a:txBody>
                    <a:bodyPr/>
                    <a:lstStyle/>
                    <a:p>
                      <a:pPr>
                        <a:defRPr sz="1050" b="1">
                          <a:solidFill>
                            <a:srgbClr val="0E1E40"/>
                          </a:solidFill>
                          <a:latin typeface="Segoe UI"/>
                        </a:defRPr>
                      </a:pPr>
                      <a:r>
                        <a:t>TỔNG CHI PHÍ CỐ ĐỊNH / THÁNG</a:t>
                      </a:r>
                    </a:p>
                  </a:txBody>
                  <a:tcPr>
                    <a:solidFill>
                      <a:srgbClr val="FEF3C7"/>
                    </a:solidFill>
                  </a:tcPr>
                </a:tc>
                <a:tc>
                  <a:txBody>
                    <a:bodyPr/>
                    <a:lstStyle/>
                    <a:p>
                      <a:pPr algn="r">
                        <a:defRPr sz="1050" b="1">
                          <a:solidFill>
                            <a:srgbClr val="0E1E40"/>
                          </a:solidFill>
                          <a:latin typeface="Segoe UI"/>
                        </a:defRPr>
                      </a:pPr>
                      <a:r>
                        <a:t>8 nhân sự</a:t>
                      </a:r>
                    </a:p>
                  </a:txBody>
                  <a:tcPr>
                    <a:solidFill>
                      <a:srgbClr val="FEF3C7"/>
                    </a:solidFill>
                  </a:tcPr>
                </a:tc>
                <a:tc>
                  <a:txBody>
                    <a:bodyPr/>
                    <a:lstStyle/>
                    <a:p>
                      <a:pPr algn="r">
                        <a:defRPr sz="1050" b="1">
                          <a:solidFill>
                            <a:srgbClr val="0E1E40"/>
                          </a:solidFill>
                          <a:latin typeface="Segoe UI"/>
                        </a:defRPr>
                      </a:pPr>
                      <a:r>
                        <a:t>$13.342 USD</a:t>
                      </a:r>
                    </a:p>
                  </a:txBody>
                  <a:tcPr>
                    <a:solidFill>
                      <a:srgbClr val="FEF3C7"/>
                    </a:solidFill>
                  </a:tcPr>
                </a:tc>
                <a:tc>
                  <a:txBody>
                    <a:bodyPr/>
                    <a:lstStyle/>
                    <a:p>
                      <a:pPr algn="r">
                        <a:defRPr sz="1050" b="1">
                          <a:solidFill>
                            <a:srgbClr val="D97706"/>
                          </a:solidFill>
                          <a:latin typeface="Segoe UI"/>
                        </a:defRPr>
                      </a:pPr>
                      <a:r>
                        <a:t>345,3 Tr / tháng</a:t>
                      </a:r>
                    </a:p>
                  </a:txBody>
                  <a:tcPr>
                    <a:solidFill>
                      <a:srgbClr val="FEF3C7"/>
                    </a:solidFill>
                  </a:tcPr>
                </a:tc>
              </a:tr>
            </a:tbl>
          </a:graphicData>
        </a:graphic>
      </p:graphicFrame>
      <p:sp>
        <p:nvSpPr>
          <p:cNvPr id="8" name="Rounded Rectangle 7"/>
          <p:cNvSpPr/>
          <p:nvPr/>
        </p:nvSpPr>
        <p:spPr>
          <a:xfrm>
            <a:off x="7132320" y="1554480"/>
            <a:ext cx="4327855" cy="47548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0" y="1554480"/>
            <a:ext cx="432785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0920" y="1737360"/>
            <a:ext cx="3886200" cy="4389120"/>
          </a:xfrm>
          <a:prstGeom prst="rect">
            <a:avLst/>
          </a:prstGeom>
          <a:noFill/>
        </p:spPr>
        <p:txBody>
          <a:bodyPr wrap="square">
            <a:spAutoFit/>
          </a:bodyPr>
          <a:lstStyle/>
          <a:p>
            <a:pPr>
              <a:spcAft>
                <a:spcPts val="1200"/>
              </a:spcAft>
              <a:defRPr sz="1200" b="1">
                <a:solidFill>
                  <a:srgbClr val="D97706"/>
                </a:solidFill>
                <a:latin typeface="Segoe UI"/>
              </a:defRPr>
            </a:pPr>
            <a:r>
              <a:t>💡 NGUYÊN TẮC QUẢN TRỊ DÒNG TIỀN THỰC CHIẾN</a:t>
            </a:r>
          </a:p>
          <a:p>
            <a:pPr>
              <a:spcAft>
                <a:spcPts val="800"/>
              </a:spcAft>
              <a:defRPr sz="1050" b="1">
                <a:solidFill>
                  <a:srgbClr val="0F172A"/>
                </a:solidFill>
                <a:latin typeface="Segoe UI"/>
              </a:defRPr>
            </a:pPr>
            <a:r>
              <a:t>• Chi phí biến đổi tự nuôi sau thu: </a:t>
            </a:r>
            <a:r>
              <a:rPr b="0">
                <a:solidFill>
                  <a:srgbClr val="475569"/>
                </a:solidFill>
              </a:rPr>
              <a:t>Tiền vật tư tiêu hao, tiền xưởng Labo răng sứ, tiền trụ Implant và hoa hồng bác sĩ là các khoản phát sinh SAU KHI ĐÃ CÓ DOANH THU.</a:t>
            </a:r>
          </a:p>
          <a:p>
            <a:pPr>
              <a:spcAft>
                <a:spcPts val="800"/>
              </a:spcAft>
              <a:defRPr sz="1050" b="1">
                <a:solidFill>
                  <a:srgbClr val="0F172A"/>
                </a:solidFill>
                <a:latin typeface="Segoe UI"/>
              </a:defRPr>
            </a:pPr>
            <a:r>
              <a:t>• Khách hàng đặt cọc 50% - 70%: </a:t>
            </a:r>
            <a:r>
              <a:rPr b="0">
                <a:solidFill>
                  <a:srgbClr val="475569"/>
                </a:solidFill>
              </a:rPr>
              <a:t>Khách hàng làm kỹ thuật cao bắt buộc cọc tiền trước. Phòng khám dùng chính tiền mặt bệnh nhân đặt cọc để thanh toán cho Labo và trích thưởng bác sĩ cuối tháng.</a:t>
            </a:r>
          </a:p>
          <a:p>
            <a:pPr>
              <a:spcAft>
                <a:spcPts val="800"/>
              </a:spcAft>
              <a:defRPr sz="1050" b="1">
                <a:solidFill>
                  <a:srgbClr val="0F172A"/>
                </a:solidFill>
                <a:latin typeface="Segoe UI"/>
              </a:defRPr>
            </a:pPr>
            <a:r>
              <a:t>• Giải phóng vốn chôn chết: </a:t>
            </a:r>
            <a:r>
              <a:rPr b="0">
                <a:solidFill>
                  <a:srgbClr val="475569"/>
                </a:solidFill>
              </a:rPr>
              <a:t>Tuyệt đối KHÔNG tính gộp chi phí biến đổi vào vốn góp ban đầu. Cổ đông chỉ góp đủ vốn thiết bị và đệm định phí.</a:t>
            </a:r>
          </a:p>
          <a:p>
            <a:pPr>
              <a:spcAft>
                <a:spcPts val="800"/>
              </a:spcAft>
              <a:defRPr sz="1050" b="1">
                <a:solidFill>
                  <a:srgbClr val="0F172A"/>
                </a:solidFill>
                <a:latin typeface="Segoe UI"/>
              </a:defRPr>
            </a:pPr>
            <a:r>
              <a:t>• Tỷ trọng chi phí siêu an toàn: </a:t>
            </a:r>
            <a:r>
              <a:rPr b="0">
                <a:solidFill>
                  <a:srgbClr val="475569"/>
                </a:solidFill>
              </a:rPr>
              <a:t>Tại kịch bản mục tiêu 140 tr/ngày, tổng toàn bộ chi phí hoạt động chỉ chiếm 29,5% doanh thu, tạo biên an toàn tài chính cực lớn.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05. Bảng So Sánh 3 Kịch Bản Doanh Thu (Min – Kỳ Vọng – Max)</a:t>
            </a:r>
          </a:p>
          <a:p>
            <a:pPr>
              <a:defRPr sz="1200" b="1">
                <a:solidFill>
                  <a:srgbClr val="0284C7"/>
                </a:solidFill>
                <a:latin typeface="Segoe UI"/>
              </a:defRPr>
            </a:pPr>
            <a:r>
              <a:t>Chỉ tiêu tháng hoạt động ổn định &amp; Kết quả tài chính thực tế Năm 1</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05</a:t>
            </a:r>
          </a:p>
        </p:txBody>
      </p:sp>
      <p:graphicFrame>
        <p:nvGraphicFramePr>
          <p:cNvPr id="7" name="Table 6"/>
          <p:cNvGraphicFramePr>
            <a:graphicFrameLocks noGrp="1"/>
          </p:cNvGraphicFramePr>
          <p:nvPr/>
        </p:nvGraphicFramePr>
        <p:xfrm>
          <a:off x="731520" y="1554480"/>
          <a:ext cx="10728653" cy="4754880"/>
        </p:xfrm>
        <a:graphic>
          <a:graphicData uri="http://schemas.openxmlformats.org/drawingml/2006/table">
            <a:tbl>
              <a:tblPr firstRow="1" bandRow="1">
                <a:tableStyleId>{5C22544A-7EE6-4342-B048-85BDC9FD1C3A}</a:tableStyleId>
              </a:tblPr>
              <a:tblGrid>
                <a:gridCol w="3230575"/>
                <a:gridCol w="1874519"/>
                <a:gridCol w="2148840"/>
                <a:gridCol w="1874519"/>
                <a:gridCol w="1600200"/>
              </a:tblGrid>
              <a:tr h="475488">
                <a:tc>
                  <a:txBody>
                    <a:bodyPr/>
                    <a:lstStyle/>
                    <a:p>
                      <a:pPr algn="ctr">
                        <a:defRPr sz="1100" b="1">
                          <a:solidFill>
                            <a:srgbClr val="FFFFFF"/>
                          </a:solidFill>
                          <a:latin typeface="Segoe UI"/>
                        </a:defRPr>
                      </a:pPr>
                      <a:r>
                        <a:t>Chỉ tiêu tài chính &amp; vận hành</a:t>
                      </a:r>
                    </a:p>
                  </a:txBody>
                  <a:tcPr>
                    <a:solidFill>
                      <a:srgbClr val="0E1E40"/>
                    </a:solidFill>
                  </a:tcPr>
                </a:tc>
                <a:tc>
                  <a:txBody>
                    <a:bodyPr/>
                    <a:lstStyle/>
                    <a:p>
                      <a:pPr algn="ctr">
                        <a:defRPr sz="1100" b="1">
                          <a:solidFill>
                            <a:srgbClr val="FFFFFF"/>
                          </a:solidFill>
                          <a:latin typeface="Segoe UI"/>
                        </a:defRPr>
                      </a:pPr>
                      <a:r>
                        <a:t>MIN (80 Tr/ngày)</a:t>
                      </a:r>
                    </a:p>
                  </a:txBody>
                  <a:tcPr>
                    <a:solidFill>
                      <a:srgbClr val="0E1E40"/>
                    </a:solidFill>
                  </a:tcPr>
                </a:tc>
                <a:tc>
                  <a:txBody>
                    <a:bodyPr/>
                    <a:lstStyle/>
                    <a:p>
                      <a:pPr algn="ctr">
                        <a:defRPr sz="1100" b="1">
                          <a:solidFill>
                            <a:srgbClr val="FFFFFF"/>
                          </a:solidFill>
                          <a:latin typeface="Segoe UI"/>
                        </a:defRPr>
                      </a:pPr>
                      <a:r>
                        <a:t>KỲ VỌNG (140 Tr/ngày) ★</a:t>
                      </a:r>
                    </a:p>
                  </a:txBody>
                  <a:tcPr>
                    <a:solidFill>
                      <a:srgbClr val="D97706"/>
                    </a:solidFill>
                  </a:tcPr>
                </a:tc>
                <a:tc>
                  <a:txBody>
                    <a:bodyPr/>
                    <a:lstStyle/>
                    <a:p>
                      <a:pPr algn="ctr">
                        <a:defRPr sz="1100" b="1">
                          <a:solidFill>
                            <a:srgbClr val="FFFFFF"/>
                          </a:solidFill>
                          <a:latin typeface="Segoe UI"/>
                        </a:defRPr>
                      </a:pPr>
                      <a:r>
                        <a:t>MAX (200 Tr/ngày)</a:t>
                      </a:r>
                    </a:p>
                  </a:txBody>
                  <a:tcPr>
                    <a:solidFill>
                      <a:srgbClr val="0E1E40"/>
                    </a:solidFill>
                  </a:tcPr>
                </a:tc>
                <a:tc>
                  <a:txBody>
                    <a:bodyPr/>
                    <a:lstStyle/>
                    <a:p>
                      <a:pPr algn="ctr">
                        <a:defRPr sz="1100" b="1">
                          <a:solidFill>
                            <a:srgbClr val="FFFFFF"/>
                          </a:solidFill>
                          <a:latin typeface="Segoe UI"/>
                        </a:defRPr>
                      </a:pPr>
                      <a:r>
                        <a:t>Ghi chú &amp; Cơ sở</a:t>
                      </a:r>
                    </a:p>
                  </a:txBody>
                  <a:tcPr>
                    <a:solidFill>
                      <a:srgbClr val="0E1E40"/>
                    </a:solidFill>
                  </a:tcPr>
                </a:tc>
              </a:tr>
              <a:tr h="475488">
                <a:tc>
                  <a:txBody>
                    <a:bodyPr/>
                    <a:lstStyle/>
                    <a:p>
                      <a:pPr algn="l">
                        <a:defRPr sz="1000" b="1">
                          <a:latin typeface="Segoe UI"/>
                        </a:defRPr>
                      </a:pPr>
                      <a:r>
                        <a:t>Doanh thu mục tiêu 1 NGÀY</a:t>
                      </a:r>
                    </a:p>
                  </a:txBody>
                  <a:tcPr>
                    <a:solidFill>
                      <a:srgbClr val="FFFFFF"/>
                    </a:solidFill>
                  </a:tcPr>
                </a:tc>
                <a:tc>
                  <a:txBody>
                    <a:bodyPr/>
                    <a:lstStyle/>
                    <a:p>
                      <a:pPr algn="r">
                        <a:defRPr sz="1000" b="1">
                          <a:latin typeface="Segoe UI"/>
                        </a:defRPr>
                      </a:pPr>
                      <a:r>
                        <a:t>80,0 Triệu</a:t>
                      </a:r>
                    </a:p>
                  </a:txBody>
                  <a:tcPr>
                    <a:solidFill>
                      <a:srgbClr val="FFFFFF"/>
                    </a:solidFill>
                  </a:tcPr>
                </a:tc>
                <a:tc>
                  <a:txBody>
                    <a:bodyPr/>
                    <a:lstStyle/>
                    <a:p>
                      <a:pPr algn="r">
                        <a:defRPr sz="1000" b="1">
                          <a:latin typeface="Segoe UI"/>
                        </a:defRPr>
                      </a:pPr>
                      <a:r>
                        <a:t>140,0 Triệu</a:t>
                      </a:r>
                    </a:p>
                  </a:txBody>
                  <a:tcPr>
                    <a:solidFill>
                      <a:srgbClr val="FEF9C3"/>
                    </a:solidFill>
                  </a:tcPr>
                </a:tc>
                <a:tc>
                  <a:txBody>
                    <a:bodyPr/>
                    <a:lstStyle/>
                    <a:p>
                      <a:pPr algn="r">
                        <a:defRPr sz="1000" b="1">
                          <a:latin typeface="Segoe UI"/>
                        </a:defRPr>
                      </a:pPr>
                      <a:r>
                        <a:t>200,0 Triệu</a:t>
                      </a:r>
                    </a:p>
                  </a:txBody>
                  <a:tcPr>
                    <a:solidFill>
                      <a:srgbClr val="FFFFFF"/>
                    </a:solidFill>
                  </a:tcPr>
                </a:tc>
                <a:tc>
                  <a:txBody>
                    <a:bodyPr/>
                    <a:lstStyle/>
                    <a:p>
                      <a:pPr algn="l">
                        <a:defRPr sz="1000" i="1">
                          <a:latin typeface="Segoe UI"/>
                        </a:defRPr>
                      </a:pPr>
                      <a:r>
                        <a:t>Mục tiêu theo ngày</a:t>
                      </a:r>
                    </a:p>
                  </a:txBody>
                  <a:tcPr>
                    <a:solidFill>
                      <a:srgbClr val="FFFFFF"/>
                    </a:solidFill>
                  </a:tcPr>
                </a:tc>
              </a:tr>
              <a:tr h="475488">
                <a:tc>
                  <a:txBody>
                    <a:bodyPr/>
                    <a:lstStyle/>
                    <a:p>
                      <a:pPr algn="l">
                        <a:defRPr sz="1000" b="1">
                          <a:latin typeface="Segoe UI"/>
                        </a:defRPr>
                      </a:pPr>
                      <a:r>
                        <a:t>Doanh thu 1 THÁNG (26 ngày)</a:t>
                      </a:r>
                    </a:p>
                  </a:txBody>
                  <a:tcPr>
                    <a:solidFill>
                      <a:srgbClr val="F1F5F9"/>
                    </a:solidFill>
                  </a:tcPr>
                </a:tc>
                <a:tc>
                  <a:txBody>
                    <a:bodyPr/>
                    <a:lstStyle/>
                    <a:p>
                      <a:pPr algn="r">
                        <a:defRPr sz="1000" b="1">
                          <a:latin typeface="Segoe UI"/>
                        </a:defRPr>
                      </a:pPr>
                      <a:r>
                        <a:t>2.080,0 Triệu</a:t>
                      </a:r>
                    </a:p>
                  </a:txBody>
                  <a:tcPr>
                    <a:solidFill>
                      <a:srgbClr val="F1F5F9"/>
                    </a:solidFill>
                  </a:tcPr>
                </a:tc>
                <a:tc>
                  <a:txBody>
                    <a:bodyPr/>
                    <a:lstStyle/>
                    <a:p>
                      <a:pPr algn="r">
                        <a:defRPr sz="1000" b="1">
                          <a:latin typeface="Segoe UI"/>
                        </a:defRPr>
                      </a:pPr>
                      <a:r>
                        <a:t>3.640,0 Triệu</a:t>
                      </a:r>
                    </a:p>
                  </a:txBody>
                  <a:tcPr>
                    <a:solidFill>
                      <a:srgbClr val="FEF9C3"/>
                    </a:solidFill>
                  </a:tcPr>
                </a:tc>
                <a:tc>
                  <a:txBody>
                    <a:bodyPr/>
                    <a:lstStyle/>
                    <a:p>
                      <a:pPr algn="r">
                        <a:defRPr sz="1000" b="1">
                          <a:latin typeface="Segoe UI"/>
                        </a:defRPr>
                      </a:pPr>
                      <a:r>
                        <a:t>5.200,0 Triệu</a:t>
                      </a:r>
                    </a:p>
                  </a:txBody>
                  <a:tcPr>
                    <a:solidFill>
                      <a:srgbClr val="F1F5F9"/>
                    </a:solidFill>
                  </a:tcPr>
                </a:tc>
                <a:tc>
                  <a:txBody>
                    <a:bodyPr/>
                    <a:lstStyle/>
                    <a:p>
                      <a:pPr algn="l">
                        <a:defRPr sz="1000" i="1">
                          <a:latin typeface="Segoe UI"/>
                        </a:defRPr>
                      </a:pPr>
                      <a:r>
                        <a:t>26 ngày làm việc/tháng</a:t>
                      </a:r>
                    </a:p>
                  </a:txBody>
                  <a:tcPr>
                    <a:solidFill>
                      <a:srgbClr val="F1F5F9"/>
                    </a:solidFill>
                  </a:tcPr>
                </a:tc>
              </a:tr>
              <a:tr h="475488">
                <a:tc>
                  <a:txBody>
                    <a:bodyPr/>
                    <a:lstStyle/>
                    <a:p>
                      <a:pPr algn="l">
                        <a:defRPr sz="1000" b="0">
                          <a:latin typeface="Segoe UI"/>
                        </a:defRPr>
                      </a:pPr>
                      <a:r>
                        <a:t>Lượt khách khám dự kiến / ngày</a:t>
                      </a:r>
                    </a:p>
                  </a:txBody>
                  <a:tcPr>
                    <a:solidFill>
                      <a:srgbClr val="FFFFFF"/>
                    </a:solidFill>
                  </a:tcPr>
                </a:tc>
                <a:tc>
                  <a:txBody>
                    <a:bodyPr/>
                    <a:lstStyle/>
                    <a:p>
                      <a:pPr algn="r">
                        <a:defRPr sz="1000">
                          <a:latin typeface="Segoe UI"/>
                        </a:defRPr>
                      </a:pPr>
                      <a:r>
                        <a:t>~12,9 ca/ngày</a:t>
                      </a:r>
                    </a:p>
                  </a:txBody>
                  <a:tcPr>
                    <a:solidFill>
                      <a:srgbClr val="FFFFFF"/>
                    </a:solidFill>
                  </a:tcPr>
                </a:tc>
                <a:tc>
                  <a:txBody>
                    <a:bodyPr/>
                    <a:lstStyle/>
                    <a:p>
                      <a:pPr algn="r">
                        <a:defRPr sz="1000">
                          <a:latin typeface="Segoe UI"/>
                        </a:defRPr>
                      </a:pPr>
                      <a:r>
                        <a:t>~22,6 ca/ngày</a:t>
                      </a:r>
                    </a:p>
                  </a:txBody>
                  <a:tcPr>
                    <a:solidFill>
                      <a:srgbClr val="FEF9C3"/>
                    </a:solidFill>
                  </a:tcPr>
                </a:tc>
                <a:tc>
                  <a:txBody>
                    <a:bodyPr/>
                    <a:lstStyle/>
                    <a:p>
                      <a:pPr algn="r">
                        <a:defRPr sz="1000">
                          <a:latin typeface="Segoe UI"/>
                        </a:defRPr>
                      </a:pPr>
                      <a:r>
                        <a:t>~32,3 ca/ngày</a:t>
                      </a:r>
                    </a:p>
                  </a:txBody>
                  <a:tcPr>
                    <a:solidFill>
                      <a:srgbClr val="FFFFFF"/>
                    </a:solidFill>
                  </a:tcPr>
                </a:tc>
                <a:tc>
                  <a:txBody>
                    <a:bodyPr/>
                    <a:lstStyle/>
                    <a:p>
                      <a:pPr algn="l">
                        <a:defRPr sz="1000" i="1">
                          <a:latin typeface="Segoe UI"/>
                        </a:defRPr>
                      </a:pPr>
                      <a:r>
                        <a:t>Bình quân 6,2 tr/ca</a:t>
                      </a:r>
                    </a:p>
                  </a:txBody>
                  <a:tcPr>
                    <a:solidFill>
                      <a:srgbClr val="FFFFFF"/>
                    </a:solidFill>
                  </a:tcPr>
                </a:tc>
              </a:tr>
              <a:tr h="475488">
                <a:tc>
                  <a:txBody>
                    <a:bodyPr/>
                    <a:lstStyle/>
                    <a:p>
                      <a:pPr algn="l">
                        <a:defRPr sz="1000" b="0">
                          <a:latin typeface="Segoe UI"/>
                        </a:defRPr>
                      </a:pPr>
                      <a:r>
                        <a:t>Chi phí biến đổi (20% COGS)</a:t>
                      </a:r>
                    </a:p>
                  </a:txBody>
                  <a:tcPr>
                    <a:solidFill>
                      <a:srgbClr val="F1F5F9"/>
                    </a:solidFill>
                  </a:tcPr>
                </a:tc>
                <a:tc>
                  <a:txBody>
                    <a:bodyPr/>
                    <a:lstStyle/>
                    <a:p>
                      <a:pPr algn="r">
                        <a:defRPr sz="1000">
                          <a:latin typeface="Segoe UI"/>
                        </a:defRPr>
                      </a:pPr>
                      <a:r>
                        <a:t>416,0 Triệu</a:t>
                      </a:r>
                    </a:p>
                  </a:txBody>
                  <a:tcPr>
                    <a:solidFill>
                      <a:srgbClr val="F1F5F9"/>
                    </a:solidFill>
                  </a:tcPr>
                </a:tc>
                <a:tc>
                  <a:txBody>
                    <a:bodyPr/>
                    <a:lstStyle/>
                    <a:p>
                      <a:pPr algn="r">
                        <a:defRPr sz="1000">
                          <a:latin typeface="Segoe UI"/>
                        </a:defRPr>
                      </a:pPr>
                      <a:r>
                        <a:t>728,0 Triệu</a:t>
                      </a:r>
                    </a:p>
                  </a:txBody>
                  <a:tcPr>
                    <a:solidFill>
                      <a:srgbClr val="FEF9C3"/>
                    </a:solidFill>
                  </a:tcPr>
                </a:tc>
                <a:tc>
                  <a:txBody>
                    <a:bodyPr/>
                    <a:lstStyle/>
                    <a:p>
                      <a:pPr algn="r">
                        <a:defRPr sz="1000">
                          <a:latin typeface="Segoe UI"/>
                        </a:defRPr>
                      </a:pPr>
                      <a:r>
                        <a:t>1.040,0 Triệu</a:t>
                      </a:r>
                    </a:p>
                  </a:txBody>
                  <a:tcPr>
                    <a:solidFill>
                      <a:srgbClr val="F1F5F9"/>
                    </a:solidFill>
                  </a:tcPr>
                </a:tc>
                <a:tc>
                  <a:txBody>
                    <a:bodyPr/>
                    <a:lstStyle/>
                    <a:p>
                      <a:pPr algn="l">
                        <a:defRPr sz="1000" i="1">
                          <a:latin typeface="Segoe UI"/>
                        </a:defRPr>
                      </a:pPr>
                      <a:r>
                        <a:t>Vật tư tiêu hao, xưởng Labo</a:t>
                      </a:r>
                    </a:p>
                  </a:txBody>
                  <a:tcPr>
                    <a:solidFill>
                      <a:srgbClr val="F1F5F9"/>
                    </a:solidFill>
                  </a:tcPr>
                </a:tc>
              </a:tr>
              <a:tr h="475488">
                <a:tc>
                  <a:txBody>
                    <a:bodyPr/>
                    <a:lstStyle/>
                    <a:p>
                      <a:pPr algn="l">
                        <a:defRPr sz="1000" b="0">
                          <a:latin typeface="Segoe UI"/>
                        </a:defRPr>
                      </a:pPr>
                      <a:r>
                        <a:t>Chi phí cố định bộ máy / tháng</a:t>
                      </a:r>
                    </a:p>
                  </a:txBody>
                  <a:tcPr>
                    <a:solidFill>
                      <a:srgbClr val="FFFFFF"/>
                    </a:solidFill>
                  </a:tcPr>
                </a:tc>
                <a:tc>
                  <a:txBody>
                    <a:bodyPr/>
                    <a:lstStyle/>
                    <a:p>
                      <a:pPr algn="r">
                        <a:defRPr sz="1000">
                          <a:latin typeface="Segoe UI"/>
                        </a:defRPr>
                      </a:pPr>
                      <a:r>
                        <a:t>345,3 Triệu</a:t>
                      </a:r>
                    </a:p>
                  </a:txBody>
                  <a:tcPr>
                    <a:solidFill>
                      <a:srgbClr val="FFFFFF"/>
                    </a:solidFill>
                  </a:tcPr>
                </a:tc>
                <a:tc>
                  <a:txBody>
                    <a:bodyPr/>
                    <a:lstStyle/>
                    <a:p>
                      <a:pPr algn="r">
                        <a:defRPr sz="1000">
                          <a:latin typeface="Segoe UI"/>
                        </a:defRPr>
                      </a:pPr>
                      <a:r>
                        <a:t>345,3 Triệu</a:t>
                      </a:r>
                    </a:p>
                  </a:txBody>
                  <a:tcPr>
                    <a:solidFill>
                      <a:srgbClr val="FEF9C3"/>
                    </a:solidFill>
                  </a:tcPr>
                </a:tc>
                <a:tc>
                  <a:txBody>
                    <a:bodyPr/>
                    <a:lstStyle/>
                    <a:p>
                      <a:pPr algn="r">
                        <a:defRPr sz="1000">
                          <a:latin typeface="Segoe UI"/>
                        </a:defRPr>
                      </a:pPr>
                      <a:r>
                        <a:t>345,3 Triệu</a:t>
                      </a:r>
                    </a:p>
                  </a:txBody>
                  <a:tcPr>
                    <a:solidFill>
                      <a:srgbClr val="FFFFFF"/>
                    </a:solidFill>
                  </a:tcPr>
                </a:tc>
                <a:tc>
                  <a:txBody>
                    <a:bodyPr/>
                    <a:lstStyle/>
                    <a:p>
                      <a:pPr algn="l">
                        <a:defRPr sz="1000" i="1">
                          <a:latin typeface="Segoe UI"/>
                        </a:defRPr>
                      </a:pPr>
                      <a:r>
                        <a:t>$13.342 USD (Nhà $500/th)</a:t>
                      </a:r>
                    </a:p>
                  </a:txBody>
                  <a:tcPr>
                    <a:solidFill>
                      <a:srgbClr val="FFFFFF"/>
                    </a:solidFill>
                  </a:tcPr>
                </a:tc>
              </a:tr>
              <a:tr h="475488">
                <a:tc>
                  <a:txBody>
                    <a:bodyPr/>
                    <a:lstStyle/>
                    <a:p>
                      <a:pPr algn="l">
                        <a:defRPr sz="1000" b="0">
                          <a:latin typeface="Segoe UI"/>
                        </a:defRPr>
                      </a:pPr>
                      <a:r>
                        <a:t>Tổng chi phí hoạt động / tháng</a:t>
                      </a:r>
                    </a:p>
                  </a:txBody>
                  <a:tcPr>
                    <a:solidFill>
                      <a:srgbClr val="F1F5F9"/>
                    </a:solidFill>
                  </a:tcPr>
                </a:tc>
                <a:tc>
                  <a:txBody>
                    <a:bodyPr/>
                    <a:lstStyle/>
                    <a:p>
                      <a:pPr algn="r">
                        <a:defRPr sz="1000">
                          <a:latin typeface="Segoe UI"/>
                        </a:defRPr>
                      </a:pPr>
                      <a:r>
                        <a:t>761,3 Triệu</a:t>
                      </a:r>
                    </a:p>
                  </a:txBody>
                  <a:tcPr>
                    <a:solidFill>
                      <a:srgbClr val="F1F5F9"/>
                    </a:solidFill>
                  </a:tcPr>
                </a:tc>
                <a:tc>
                  <a:txBody>
                    <a:bodyPr/>
                    <a:lstStyle/>
                    <a:p>
                      <a:pPr algn="r">
                        <a:defRPr sz="1000">
                          <a:latin typeface="Segoe UI"/>
                        </a:defRPr>
                      </a:pPr>
                      <a:r>
                        <a:t>1.073,3 Triệu</a:t>
                      </a:r>
                    </a:p>
                  </a:txBody>
                  <a:tcPr>
                    <a:solidFill>
                      <a:srgbClr val="FEF9C3"/>
                    </a:solidFill>
                  </a:tcPr>
                </a:tc>
                <a:tc>
                  <a:txBody>
                    <a:bodyPr/>
                    <a:lstStyle/>
                    <a:p>
                      <a:pPr algn="r">
                        <a:defRPr sz="1000">
                          <a:latin typeface="Segoe UI"/>
                        </a:defRPr>
                      </a:pPr>
                      <a:r>
                        <a:t>1.385,3 Triệu</a:t>
                      </a:r>
                    </a:p>
                  </a:txBody>
                  <a:tcPr>
                    <a:solidFill>
                      <a:srgbClr val="F1F5F9"/>
                    </a:solidFill>
                  </a:tcPr>
                </a:tc>
                <a:tc>
                  <a:txBody>
                    <a:bodyPr/>
                    <a:lstStyle/>
                    <a:p>
                      <a:pPr algn="l">
                        <a:defRPr sz="1000" i="1">
                          <a:latin typeface="Segoe UI"/>
                        </a:defRPr>
                      </a:pPr>
                      <a:r>
                        <a:t>Chỉ chiếm 26,6% - 36,6% DT</a:t>
                      </a:r>
                    </a:p>
                  </a:txBody>
                  <a:tcPr>
                    <a:solidFill>
                      <a:srgbClr val="F1F5F9"/>
                    </a:solidFill>
                  </a:tcPr>
                </a:tc>
              </a:tr>
              <a:tr h="475488">
                <a:tc>
                  <a:txBody>
                    <a:bodyPr/>
                    <a:lstStyle/>
                    <a:p>
                      <a:pPr algn="l">
                        <a:defRPr sz="1000" b="1">
                          <a:latin typeface="Segoe UI"/>
                        </a:defRPr>
                      </a:pPr>
                      <a:r>
                        <a:t>Lợi nhuận EBITDA / tháng</a:t>
                      </a:r>
                    </a:p>
                  </a:txBody>
                  <a:tcPr>
                    <a:solidFill>
                      <a:srgbClr val="FFFFFF"/>
                    </a:solidFill>
                  </a:tcPr>
                </a:tc>
                <a:tc>
                  <a:txBody>
                    <a:bodyPr/>
                    <a:lstStyle/>
                    <a:p>
                      <a:pPr algn="r">
                        <a:defRPr sz="1000" b="1">
                          <a:latin typeface="Segoe UI"/>
                        </a:defRPr>
                      </a:pPr>
                      <a:r>
                        <a:t>+1.318,7 Triệu</a:t>
                      </a:r>
                    </a:p>
                  </a:txBody>
                  <a:tcPr>
                    <a:solidFill>
                      <a:srgbClr val="FFFFFF"/>
                    </a:solidFill>
                  </a:tcPr>
                </a:tc>
                <a:tc>
                  <a:txBody>
                    <a:bodyPr/>
                    <a:lstStyle/>
                    <a:p>
                      <a:pPr algn="r">
                        <a:defRPr sz="1000" b="1">
                          <a:latin typeface="Segoe UI"/>
                        </a:defRPr>
                      </a:pPr>
                      <a:r>
                        <a:t>+2.566,7 Triệu</a:t>
                      </a:r>
                    </a:p>
                  </a:txBody>
                  <a:tcPr>
                    <a:solidFill>
                      <a:srgbClr val="FEF9C3"/>
                    </a:solidFill>
                  </a:tcPr>
                </a:tc>
                <a:tc>
                  <a:txBody>
                    <a:bodyPr/>
                    <a:lstStyle/>
                    <a:p>
                      <a:pPr algn="r">
                        <a:defRPr sz="1000" b="1">
                          <a:latin typeface="Segoe UI"/>
                        </a:defRPr>
                      </a:pPr>
                      <a:r>
                        <a:t>+3.814,7 Triệu</a:t>
                      </a:r>
                    </a:p>
                  </a:txBody>
                  <a:tcPr>
                    <a:solidFill>
                      <a:srgbClr val="FFFFFF"/>
                    </a:solidFill>
                  </a:tcPr>
                </a:tc>
                <a:tc>
                  <a:txBody>
                    <a:bodyPr/>
                    <a:lstStyle/>
                    <a:p>
                      <a:pPr algn="l">
                        <a:defRPr sz="1000" i="1">
                          <a:latin typeface="Segoe UI"/>
                        </a:defRPr>
                      </a:pPr>
                      <a:r>
                        <a:t>Dòng tiền tạo ra hàng tháng</a:t>
                      </a:r>
                    </a:p>
                  </a:txBody>
                  <a:tcPr>
                    <a:solidFill>
                      <a:srgbClr val="FFFFFF"/>
                    </a:solidFill>
                  </a:tcPr>
                </a:tc>
              </a:tr>
              <a:tr h="475488">
                <a:tc>
                  <a:txBody>
                    <a:bodyPr/>
                    <a:lstStyle/>
                    <a:p>
                      <a:pPr algn="l">
                        <a:defRPr sz="1000" b="0">
                          <a:latin typeface="Segoe UI"/>
                        </a:defRPr>
                      </a:pPr>
                      <a:r>
                        <a:t>Biên lợi nhuận EBITDA (%)</a:t>
                      </a:r>
                    </a:p>
                  </a:txBody>
                  <a:tcPr>
                    <a:solidFill>
                      <a:srgbClr val="F1F5F9"/>
                    </a:solidFill>
                  </a:tcPr>
                </a:tc>
                <a:tc>
                  <a:txBody>
                    <a:bodyPr/>
                    <a:lstStyle/>
                    <a:p>
                      <a:pPr algn="r">
                        <a:defRPr sz="1000">
                          <a:latin typeface="Segoe UI"/>
                        </a:defRPr>
                      </a:pPr>
                      <a:r>
                        <a:t>63,4%</a:t>
                      </a:r>
                    </a:p>
                  </a:txBody>
                  <a:tcPr>
                    <a:solidFill>
                      <a:srgbClr val="F1F5F9"/>
                    </a:solidFill>
                  </a:tcPr>
                </a:tc>
                <a:tc>
                  <a:txBody>
                    <a:bodyPr/>
                    <a:lstStyle/>
                    <a:p>
                      <a:pPr algn="r">
                        <a:defRPr sz="1000">
                          <a:latin typeface="Segoe UI"/>
                        </a:defRPr>
                      </a:pPr>
                      <a:r>
                        <a:t>70,5%</a:t>
                      </a:r>
                    </a:p>
                  </a:txBody>
                  <a:tcPr>
                    <a:solidFill>
                      <a:srgbClr val="FEF9C3"/>
                    </a:solidFill>
                  </a:tcPr>
                </a:tc>
                <a:tc>
                  <a:txBody>
                    <a:bodyPr/>
                    <a:lstStyle/>
                    <a:p>
                      <a:pPr algn="r">
                        <a:defRPr sz="1000">
                          <a:latin typeface="Segoe UI"/>
                        </a:defRPr>
                      </a:pPr>
                      <a:r>
                        <a:t>73,4%</a:t>
                      </a:r>
                    </a:p>
                  </a:txBody>
                  <a:tcPr>
                    <a:solidFill>
                      <a:srgbClr val="F1F5F9"/>
                    </a:solidFill>
                  </a:tcPr>
                </a:tc>
                <a:tc>
                  <a:txBody>
                    <a:bodyPr/>
                    <a:lstStyle/>
                    <a:p>
                      <a:pPr algn="l">
                        <a:defRPr sz="1000" i="1">
                          <a:latin typeface="Segoe UI"/>
                        </a:defRPr>
                      </a:pPr>
                      <a:r>
                        <a:t>Tỷ suất sinh lời vượt trội</a:t>
                      </a:r>
                    </a:p>
                  </a:txBody>
                  <a:tcPr>
                    <a:solidFill>
                      <a:srgbClr val="F1F5F9"/>
                    </a:solidFill>
                  </a:tcPr>
                </a:tc>
              </a:tr>
              <a:tr h="475488">
                <a:tc>
                  <a:txBody>
                    <a:bodyPr/>
                    <a:lstStyle/>
                    <a:p>
                      <a:pPr algn="l">
                        <a:defRPr sz="1000" b="1">
                          <a:latin typeface="Segoe UI"/>
                        </a:defRPr>
                      </a:pPr>
                      <a:r>
                        <a:t>THỜI GIAN THU HỒI VỐN (PAYBACK)</a:t>
                      </a:r>
                    </a:p>
                  </a:txBody>
                  <a:tcPr>
                    <a:solidFill>
                      <a:srgbClr val="FEF3C7"/>
                    </a:solidFill>
                  </a:tcPr>
                </a:tc>
                <a:tc>
                  <a:txBody>
                    <a:bodyPr/>
                    <a:lstStyle/>
                    <a:p>
                      <a:pPr algn="r">
                        <a:defRPr sz="1100" b="1">
                          <a:solidFill>
                            <a:srgbClr val="0E1E40"/>
                          </a:solidFill>
                          <a:latin typeface="Segoe UI"/>
                        </a:defRPr>
                      </a:pPr>
                      <a:r>
                        <a:t>6 THÁNG</a:t>
                      </a:r>
                    </a:p>
                  </a:txBody>
                  <a:tcPr>
                    <a:solidFill>
                      <a:srgbClr val="FEF3C7"/>
                    </a:solidFill>
                  </a:tcPr>
                </a:tc>
                <a:tc>
                  <a:txBody>
                    <a:bodyPr/>
                    <a:lstStyle/>
                    <a:p>
                      <a:pPr algn="r">
                        <a:defRPr sz="1100" b="1">
                          <a:solidFill>
                            <a:srgbClr val="D97706"/>
                          </a:solidFill>
                          <a:latin typeface="Segoe UI"/>
                        </a:defRPr>
                      </a:pPr>
                      <a:r>
                        <a:t>4 THÁNG</a:t>
                      </a:r>
                    </a:p>
                  </a:txBody>
                  <a:tcPr>
                    <a:solidFill>
                      <a:srgbClr val="FEF3C7"/>
                    </a:solidFill>
                  </a:tcPr>
                </a:tc>
                <a:tc>
                  <a:txBody>
                    <a:bodyPr/>
                    <a:lstStyle/>
                    <a:p>
                      <a:pPr algn="r">
                        <a:defRPr sz="1100" b="1">
                          <a:solidFill>
                            <a:srgbClr val="0E1E40"/>
                          </a:solidFill>
                          <a:latin typeface="Segoe UI"/>
                        </a:defRPr>
                      </a:pPr>
                      <a:r>
                        <a:t>3 THÁNG</a:t>
                      </a:r>
                    </a:p>
                  </a:txBody>
                  <a:tcPr>
                    <a:solidFill>
                      <a:srgbClr val="FEF3C7"/>
                    </a:solidFill>
                  </a:tcPr>
                </a:tc>
                <a:tc>
                  <a:txBody>
                    <a:bodyPr/>
                    <a:lstStyle/>
                    <a:p>
                      <a:pPr algn="l">
                        <a:defRPr sz="1000" i="1">
                          <a:latin typeface="Segoe UI"/>
                        </a:defRPr>
                      </a:pPr>
                      <a:r>
                        <a:t>HOÀN VỐN NGAY NĂM 1!</a:t>
                      </a:r>
                    </a:p>
                  </a:txBody>
                  <a:tcPr>
                    <a:solidFill>
                      <a:srgbClr val="FEF3C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06. Điểm Hòa Vốn Vận Hành &amp; Thời Gian Hoàn Vốn Thần Tốc</a:t>
            </a:r>
          </a:p>
          <a:p>
            <a:pPr>
              <a:defRPr sz="1200" b="1">
                <a:solidFill>
                  <a:srgbClr val="0284C7"/>
                </a:solidFill>
                <a:latin typeface="Segoe UI"/>
              </a:defRPr>
            </a:pPr>
            <a:r>
              <a:t>Kiểm định an toàn sống còn: Hòa vốn chỉ với 2,68 ca/ngày &amp; Thu hồi vốn sạch trong 3 - 6 tháng</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06</a:t>
            </a:r>
          </a:p>
        </p:txBody>
      </p:sp>
      <p:sp>
        <p:nvSpPr>
          <p:cNvPr id="7" name="Rounded Rectangle 6"/>
          <p:cNvSpPr/>
          <p:nvPr/>
        </p:nvSpPr>
        <p:spPr>
          <a:xfrm>
            <a:off x="731520" y="1554480"/>
            <a:ext cx="5248656" cy="2286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54480"/>
            <a:ext cx="109728" cy="22860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4882896" cy="2011680"/>
          </a:xfrm>
          <a:prstGeom prst="rect">
            <a:avLst/>
          </a:prstGeom>
          <a:noFill/>
        </p:spPr>
        <p:txBody>
          <a:bodyPr wrap="square">
            <a:spAutoFit/>
          </a:bodyPr>
          <a:lstStyle/>
          <a:p>
            <a:pPr>
              <a:defRPr sz="1000" b="1">
                <a:solidFill>
                  <a:srgbClr val="475569"/>
                </a:solidFill>
                <a:latin typeface="Segoe UI"/>
              </a:defRPr>
            </a:pPr>
            <a:r>
              <a:t>DOANH THU HÒA VỐN 1 NGÀY</a:t>
            </a:r>
          </a:p>
          <a:p>
            <a:pPr>
              <a:spcBef>
                <a:spcPts val="300"/>
              </a:spcBef>
              <a:spcAft>
                <a:spcPts val="500"/>
              </a:spcAft>
              <a:defRPr sz="2100" b="1">
                <a:solidFill>
                  <a:srgbClr val="0E1E40"/>
                </a:solidFill>
                <a:latin typeface="Segoe UI"/>
              </a:defRPr>
            </a:pPr>
            <a:r>
              <a:t>16,60 Triệu / ngày</a:t>
            </a:r>
          </a:p>
          <a:p>
            <a:pPr>
              <a:defRPr sz="1000">
                <a:solidFill>
                  <a:srgbClr val="0F172A"/>
                </a:solidFill>
                <a:latin typeface="Segoe UI"/>
              </a:defRPr>
            </a:pPr>
            <a:r>
              <a:t>Chỉ cần ~2,68 lượt khám/ngày (doanh thu bình quân $239 USD/ca) là phòng khám đã đủ bù đắp 100% định phí của cả 8 nhân sự, tiền nhà và marketing!</a:t>
            </a:r>
          </a:p>
        </p:txBody>
      </p:sp>
      <p:sp>
        <p:nvSpPr>
          <p:cNvPr id="10" name="Rounded Rectangle 9"/>
          <p:cNvSpPr/>
          <p:nvPr/>
        </p:nvSpPr>
        <p:spPr>
          <a:xfrm>
            <a:off x="6208776" y="1554480"/>
            <a:ext cx="5248656" cy="2286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554480"/>
            <a:ext cx="109728" cy="22860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691640"/>
            <a:ext cx="4882896" cy="2011680"/>
          </a:xfrm>
          <a:prstGeom prst="rect">
            <a:avLst/>
          </a:prstGeom>
          <a:noFill/>
        </p:spPr>
        <p:txBody>
          <a:bodyPr wrap="square">
            <a:spAutoFit/>
          </a:bodyPr>
          <a:lstStyle/>
          <a:p>
            <a:pPr>
              <a:defRPr sz="1000" b="1">
                <a:solidFill>
                  <a:srgbClr val="475569"/>
                </a:solidFill>
                <a:latin typeface="Segoe UI"/>
              </a:defRPr>
            </a:pPr>
            <a:r>
              <a:t>DOANH THU HÒA VỐN 1 THÁNG</a:t>
            </a:r>
          </a:p>
          <a:p>
            <a:pPr>
              <a:spcBef>
                <a:spcPts val="300"/>
              </a:spcBef>
              <a:spcAft>
                <a:spcPts val="500"/>
              </a:spcAft>
              <a:defRPr sz="2100" b="1">
                <a:solidFill>
                  <a:srgbClr val="0284C7"/>
                </a:solidFill>
                <a:latin typeface="Segoe UI"/>
              </a:defRPr>
            </a:pPr>
            <a:r>
              <a:t>431,67 Triệu / tháng</a:t>
            </a:r>
          </a:p>
          <a:p>
            <a:pPr>
              <a:defRPr sz="1000">
                <a:solidFill>
                  <a:srgbClr val="0F172A"/>
                </a:solidFill>
                <a:latin typeface="Segoe UI"/>
              </a:defRPr>
            </a:pPr>
            <a:r>
              <a:t>= 345,3 tr định phí / (1 - 20% biến phí). Đây là ngưỡng doanh thu sàn sống còn hàng tháng mà dự án vượt qua rất dễ dàng ngay từ tháng hoạt động đầu tiên.</a:t>
            </a:r>
          </a:p>
        </p:txBody>
      </p:sp>
      <p:sp>
        <p:nvSpPr>
          <p:cNvPr id="13" name="Rounded Rectangle 12"/>
          <p:cNvSpPr/>
          <p:nvPr/>
        </p:nvSpPr>
        <p:spPr>
          <a:xfrm>
            <a:off x="731520" y="4023360"/>
            <a:ext cx="5248656" cy="2286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023360"/>
            <a:ext cx="109728" cy="2286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60520"/>
            <a:ext cx="4882896" cy="2011680"/>
          </a:xfrm>
          <a:prstGeom prst="rect">
            <a:avLst/>
          </a:prstGeom>
          <a:noFill/>
        </p:spPr>
        <p:txBody>
          <a:bodyPr wrap="square">
            <a:spAutoFit/>
          </a:bodyPr>
          <a:lstStyle/>
          <a:p>
            <a:pPr>
              <a:defRPr sz="1000" b="1">
                <a:solidFill>
                  <a:srgbClr val="475569"/>
                </a:solidFill>
                <a:latin typeface="Segoe UI"/>
              </a:defRPr>
            </a:pPr>
            <a:r>
              <a:t>BIÊN AN TOÀN DOANH THU</a:t>
            </a:r>
          </a:p>
          <a:p>
            <a:pPr>
              <a:spcBef>
                <a:spcPts val="300"/>
              </a:spcBef>
              <a:spcAft>
                <a:spcPts val="500"/>
              </a:spcAft>
              <a:defRPr sz="2100" b="1">
                <a:solidFill>
                  <a:srgbClr val="059669"/>
                </a:solidFill>
                <a:latin typeface="Segoe UI"/>
              </a:defRPr>
            </a:pPr>
            <a:r>
              <a:t>79,2% – 88,1%</a:t>
            </a:r>
          </a:p>
          <a:p>
            <a:pPr>
              <a:defRPr sz="1000">
                <a:solidFill>
                  <a:srgbClr val="0F172A"/>
                </a:solidFill>
                <a:latin typeface="Segoe UI"/>
              </a:defRPr>
            </a:pPr>
            <a:r>
              <a:t>Doanh thu thực tế có thể sụt giảm tới 88,1% so với mục tiêu 140 tr/ngày mà phòng khám vẫn không bị âm dòng tiền hoạt động! Bảo vệ an toàn tuyệt đối cho nhà đầu tư.</a:t>
            </a:r>
          </a:p>
        </p:txBody>
      </p:sp>
      <p:sp>
        <p:nvSpPr>
          <p:cNvPr id="16" name="Rounded Rectangle 15"/>
          <p:cNvSpPr/>
          <p:nvPr/>
        </p:nvSpPr>
        <p:spPr>
          <a:xfrm>
            <a:off x="6208776" y="4023360"/>
            <a:ext cx="5248656" cy="22860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4023360"/>
            <a:ext cx="109728" cy="2286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7376" y="4160520"/>
            <a:ext cx="4882896" cy="2011680"/>
          </a:xfrm>
          <a:prstGeom prst="rect">
            <a:avLst/>
          </a:prstGeom>
          <a:noFill/>
        </p:spPr>
        <p:txBody>
          <a:bodyPr wrap="square">
            <a:spAutoFit/>
          </a:bodyPr>
          <a:lstStyle/>
          <a:p>
            <a:pPr>
              <a:defRPr sz="1000" b="1">
                <a:solidFill>
                  <a:srgbClr val="475569"/>
                </a:solidFill>
                <a:latin typeface="Segoe UI"/>
              </a:defRPr>
            </a:pPr>
            <a:r>
              <a:t>THỜI GIAN THU HỒI 100% VỐN</a:t>
            </a:r>
          </a:p>
          <a:p>
            <a:pPr>
              <a:spcBef>
                <a:spcPts val="300"/>
              </a:spcBef>
              <a:spcAft>
                <a:spcPts val="500"/>
              </a:spcAft>
              <a:defRPr sz="2100" b="1">
                <a:solidFill>
                  <a:srgbClr val="D97706"/>
                </a:solidFill>
                <a:latin typeface="Segoe UI"/>
              </a:defRPr>
            </a:pPr>
            <a:r>
              <a:t>3 – 6 THÁNG</a:t>
            </a:r>
          </a:p>
          <a:p>
            <a:pPr>
              <a:defRPr sz="1000">
                <a:solidFill>
                  <a:srgbClr val="0F172A"/>
                </a:solidFill>
                <a:latin typeface="Segoe UI"/>
              </a:defRPr>
            </a:pPr>
            <a:r>
              <a:t>Kịch bản Min: Hoàn vốn sau 6 tháng. Kịch bản Kỳ vọng: Hoàn vốn sau 4 tháng. Kịch bản Max: Hoàn vốn sau 3 tháng. Toàn bộ vốn đầu tư ban đầu được thu hồi sạch ngay trong Năm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07. Cơ Cấu Cổ Phần &amp; Mô Hình Hợp Tác Chuẩn Ngành Y Tế</a:t>
            </a:r>
          </a:p>
          <a:p>
            <a:pPr>
              <a:defRPr sz="1200" b="1">
                <a:solidFill>
                  <a:srgbClr val="0284C7"/>
                </a:solidFill>
                <a:latin typeface="Segoe UI"/>
              </a:defRPr>
            </a:pPr>
            <a:r>
              <a:t>Phân bổ sở hữu minh bạch giữa Vốn tài chính - Quản trị vận hành - Chuyên môn lâm sàng</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07</a:t>
            </a:r>
          </a:p>
        </p:txBody>
      </p:sp>
      <p:graphicFrame>
        <p:nvGraphicFramePr>
          <p:cNvPr id="7" name="Table 6"/>
          <p:cNvGraphicFramePr>
            <a:graphicFrameLocks noGrp="1"/>
          </p:cNvGraphicFramePr>
          <p:nvPr/>
        </p:nvGraphicFramePr>
        <p:xfrm>
          <a:off x="731520" y="1554480"/>
          <a:ext cx="6858000" cy="4754880"/>
        </p:xfrm>
        <a:graphic>
          <a:graphicData uri="http://schemas.openxmlformats.org/drawingml/2006/table">
            <a:tbl>
              <a:tblPr firstRow="1" bandRow="1">
                <a:tableStyleId>{5C22544A-7EE6-4342-B048-85BDC9FD1C3A}</a:tableStyleId>
              </a:tblPr>
              <a:tblGrid>
                <a:gridCol w="2377440"/>
                <a:gridCol w="822960"/>
                <a:gridCol w="1005840"/>
                <a:gridCol w="1097280"/>
                <a:gridCol w="1554480"/>
              </a:tblGrid>
              <a:tr h="950976">
                <a:tc>
                  <a:txBody>
                    <a:bodyPr/>
                    <a:lstStyle/>
                    <a:p>
                      <a:pPr algn="ctr">
                        <a:defRPr sz="1000" b="1">
                          <a:solidFill>
                            <a:srgbClr val="FFFFFF"/>
                          </a:solidFill>
                          <a:latin typeface="Segoe UI"/>
                        </a:defRPr>
                      </a:pPr>
                      <a:r>
                        <a:t>Nhóm Cổ đông</a:t>
                      </a:r>
                    </a:p>
                  </a:txBody>
                  <a:tcPr>
                    <a:solidFill>
                      <a:srgbClr val="0E1E40"/>
                    </a:solidFill>
                  </a:tcPr>
                </a:tc>
                <a:tc>
                  <a:txBody>
                    <a:bodyPr/>
                    <a:lstStyle/>
                    <a:p>
                      <a:pPr algn="ctr">
                        <a:defRPr sz="1000" b="1">
                          <a:solidFill>
                            <a:srgbClr val="FFFFFF"/>
                          </a:solidFill>
                          <a:latin typeface="Segoe UI"/>
                        </a:defRPr>
                      </a:pPr>
                      <a:r>
                        <a:t>Tỷ lệ</a:t>
                      </a:r>
                    </a:p>
                  </a:txBody>
                  <a:tcPr>
                    <a:solidFill>
                      <a:srgbClr val="0E1E40"/>
                    </a:solidFill>
                  </a:tcPr>
                </a:tc>
                <a:tc>
                  <a:txBody>
                    <a:bodyPr/>
                    <a:lstStyle/>
                    <a:p>
                      <a:pPr algn="ctr">
                        <a:defRPr sz="1000" b="1">
                          <a:solidFill>
                            <a:srgbClr val="FFFFFF"/>
                          </a:solidFill>
                          <a:latin typeface="Segoe UI"/>
                        </a:defRPr>
                      </a:pPr>
                      <a:r>
                        <a:t>Vốn USD</a:t>
                      </a:r>
                    </a:p>
                  </a:txBody>
                  <a:tcPr>
                    <a:solidFill>
                      <a:srgbClr val="0E1E40"/>
                    </a:solidFill>
                  </a:tcPr>
                </a:tc>
                <a:tc>
                  <a:txBody>
                    <a:bodyPr/>
                    <a:lstStyle/>
                    <a:p>
                      <a:pPr algn="ctr">
                        <a:defRPr sz="1000" b="1">
                          <a:solidFill>
                            <a:srgbClr val="FFFFFF"/>
                          </a:solidFill>
                          <a:latin typeface="Segoe UI"/>
                        </a:defRPr>
                      </a:pPr>
                      <a:r>
                        <a:t>Vốn VNĐ</a:t>
                      </a:r>
                    </a:p>
                  </a:txBody>
                  <a:tcPr>
                    <a:solidFill>
                      <a:srgbClr val="0E1E40"/>
                    </a:solidFill>
                  </a:tcPr>
                </a:tc>
                <a:tc>
                  <a:txBody>
                    <a:bodyPr/>
                    <a:lstStyle/>
                    <a:p>
                      <a:pPr algn="ctr">
                        <a:defRPr sz="1000" b="1">
                          <a:solidFill>
                            <a:srgbClr val="FFFFFF"/>
                          </a:solidFill>
                          <a:latin typeface="Segoe UI"/>
                        </a:defRPr>
                      </a:pPr>
                      <a:r>
                        <a:t>Vai trò cốt lõi</a:t>
                      </a:r>
                    </a:p>
                  </a:txBody>
                  <a:tcPr>
                    <a:solidFill>
                      <a:srgbClr val="0E1E40"/>
                    </a:solidFill>
                  </a:tcPr>
                </a:tc>
              </a:tr>
              <a:tr h="950976">
                <a:tc>
                  <a:txBody>
                    <a:bodyPr/>
                    <a:lstStyle/>
                    <a:p>
                      <a:pPr>
                        <a:defRPr sz="950">
                          <a:latin typeface="Segoe UI"/>
                        </a:defRPr>
                      </a:pPr>
                      <a:r>
                        <a:t>Nhóm Cổ đông Tài chính</a:t>
                      </a:r>
                    </a:p>
                  </a:txBody>
                  <a:tcPr>
                    <a:solidFill>
                      <a:srgbClr val="FFFFFF"/>
                    </a:solidFill>
                  </a:tcPr>
                </a:tc>
                <a:tc>
                  <a:txBody>
                    <a:bodyPr/>
                    <a:lstStyle/>
                    <a:p>
                      <a:pPr algn="r">
                        <a:defRPr sz="950">
                          <a:latin typeface="Segoe UI"/>
                        </a:defRPr>
                      </a:pPr>
                      <a:r>
                        <a:t>65,0%</a:t>
                      </a:r>
                    </a:p>
                  </a:txBody>
                  <a:tcPr>
                    <a:solidFill>
                      <a:srgbClr val="FFFFFF"/>
                    </a:solidFill>
                  </a:tcPr>
                </a:tc>
                <a:tc>
                  <a:txBody>
                    <a:bodyPr/>
                    <a:lstStyle/>
                    <a:p>
                      <a:pPr algn="r">
                        <a:defRPr sz="950">
                          <a:latin typeface="Segoe UI"/>
                        </a:defRPr>
                      </a:pPr>
                      <a:r>
                        <a:t>$81.769</a:t>
                      </a:r>
                    </a:p>
                  </a:txBody>
                  <a:tcPr>
                    <a:solidFill>
                      <a:srgbClr val="FFFFFF"/>
                    </a:solidFill>
                  </a:tcPr>
                </a:tc>
                <a:tc>
                  <a:txBody>
                    <a:bodyPr/>
                    <a:lstStyle/>
                    <a:p>
                      <a:pPr algn="r">
                        <a:defRPr sz="950">
                          <a:latin typeface="Segoe UI"/>
                        </a:defRPr>
                      </a:pPr>
                      <a:r>
                        <a:t>~2.116 Tr</a:t>
                      </a:r>
                    </a:p>
                  </a:txBody>
                  <a:tcPr>
                    <a:solidFill>
                      <a:srgbClr val="FFFFFF"/>
                    </a:solidFill>
                  </a:tcPr>
                </a:tc>
                <a:tc>
                  <a:txBody>
                    <a:bodyPr/>
                    <a:lstStyle/>
                    <a:p>
                      <a:pPr>
                        <a:defRPr sz="950">
                          <a:latin typeface="Segoe UI"/>
                        </a:defRPr>
                      </a:pPr>
                      <a:r>
                        <a:t>Góp 100% tiền mặt, kiểm soát tài chính</a:t>
                      </a:r>
                    </a:p>
                  </a:txBody>
                  <a:tcPr>
                    <a:solidFill>
                      <a:srgbClr val="FFFFFF"/>
                    </a:solidFill>
                  </a:tcPr>
                </a:tc>
              </a:tr>
              <a:tr h="950976">
                <a:tc>
                  <a:txBody>
                    <a:bodyPr/>
                    <a:lstStyle/>
                    <a:p>
                      <a:pPr>
                        <a:defRPr sz="950">
                          <a:latin typeface="Segoe UI"/>
                        </a:defRPr>
                      </a:pPr>
                      <a:r>
                        <a:t>Nhóm Sáng lập &amp; Vận hành</a:t>
                      </a:r>
                    </a:p>
                  </a:txBody>
                  <a:tcPr>
                    <a:solidFill>
                      <a:srgbClr val="F1F5F9"/>
                    </a:solidFill>
                  </a:tcPr>
                </a:tc>
                <a:tc>
                  <a:txBody>
                    <a:bodyPr/>
                    <a:lstStyle/>
                    <a:p>
                      <a:pPr algn="r">
                        <a:defRPr sz="950">
                          <a:latin typeface="Segoe UI"/>
                        </a:defRPr>
                      </a:pPr>
                      <a:r>
                        <a:t>20,0%</a:t>
                      </a:r>
                    </a:p>
                  </a:txBody>
                  <a:tcPr>
                    <a:solidFill>
                      <a:srgbClr val="F1F5F9"/>
                    </a:solidFill>
                  </a:tcPr>
                </a:tc>
                <a:tc>
                  <a:txBody>
                    <a:bodyPr/>
                    <a:lstStyle/>
                    <a:p>
                      <a:pPr algn="r">
                        <a:defRPr sz="950">
                          <a:latin typeface="Segoe UI"/>
                        </a:defRPr>
                      </a:pPr>
                      <a:r>
                        <a:t>$25.160</a:t>
                      </a:r>
                    </a:p>
                  </a:txBody>
                  <a:tcPr>
                    <a:solidFill>
                      <a:srgbClr val="F1F5F9"/>
                    </a:solidFill>
                  </a:tcPr>
                </a:tc>
                <a:tc>
                  <a:txBody>
                    <a:bodyPr/>
                    <a:lstStyle/>
                    <a:p>
                      <a:pPr algn="r">
                        <a:defRPr sz="950">
                          <a:latin typeface="Segoe UI"/>
                        </a:defRPr>
                      </a:pPr>
                      <a:r>
                        <a:t>~651 Tr</a:t>
                      </a:r>
                    </a:p>
                  </a:txBody>
                  <a:tcPr>
                    <a:solidFill>
                      <a:srgbClr val="F1F5F9"/>
                    </a:solidFill>
                  </a:tcPr>
                </a:tc>
                <a:tc>
                  <a:txBody>
                    <a:bodyPr/>
                    <a:lstStyle/>
                    <a:p>
                      <a:pPr>
                        <a:defRPr sz="950">
                          <a:latin typeface="Segoe UI"/>
                        </a:defRPr>
                      </a:pPr>
                      <a:r>
                        <a:t>Vốn tiền mặt + công sức khảo sát, pháp lý</a:t>
                      </a:r>
                    </a:p>
                  </a:txBody>
                  <a:tcPr>
                    <a:solidFill>
                      <a:srgbClr val="F1F5F9"/>
                    </a:solidFill>
                  </a:tcPr>
                </a:tc>
              </a:tr>
              <a:tr h="950976">
                <a:tc>
                  <a:txBody>
                    <a:bodyPr/>
                    <a:lstStyle/>
                    <a:p>
                      <a:pPr>
                        <a:defRPr sz="950">
                          <a:latin typeface="Segoe UI"/>
                        </a:defRPr>
                      </a:pPr>
                      <a:r>
                        <a:t>Bác sĩ Trưởng Chuyên môn (ESOP)</a:t>
                      </a:r>
                    </a:p>
                  </a:txBody>
                  <a:tcPr>
                    <a:solidFill>
                      <a:srgbClr val="FFFFFF"/>
                    </a:solidFill>
                  </a:tcPr>
                </a:tc>
                <a:tc>
                  <a:txBody>
                    <a:bodyPr/>
                    <a:lstStyle/>
                    <a:p>
                      <a:pPr algn="r">
                        <a:defRPr sz="950">
                          <a:latin typeface="Segoe UI"/>
                        </a:defRPr>
                      </a:pPr>
                      <a:r>
                        <a:t>15,0%</a:t>
                      </a:r>
                    </a:p>
                  </a:txBody>
                  <a:tcPr>
                    <a:solidFill>
                      <a:srgbClr val="FFFFFF"/>
                    </a:solidFill>
                  </a:tcPr>
                </a:tc>
                <a:tc>
                  <a:txBody>
                    <a:bodyPr/>
                    <a:lstStyle/>
                    <a:p>
                      <a:pPr algn="r">
                        <a:defRPr sz="950">
                          <a:latin typeface="Segoe UI"/>
                        </a:defRPr>
                      </a:pPr>
                      <a:r>
                        <a:t>$18.870</a:t>
                      </a:r>
                    </a:p>
                  </a:txBody>
                  <a:tcPr>
                    <a:solidFill>
                      <a:srgbClr val="FFFFFF"/>
                    </a:solidFill>
                  </a:tcPr>
                </a:tc>
                <a:tc>
                  <a:txBody>
                    <a:bodyPr/>
                    <a:lstStyle/>
                    <a:p>
                      <a:pPr algn="r">
                        <a:defRPr sz="950">
                          <a:latin typeface="Segoe UI"/>
                        </a:defRPr>
                      </a:pPr>
                      <a:r>
                        <a:t>~488 Tr</a:t>
                      </a:r>
                    </a:p>
                  </a:txBody>
                  <a:tcPr>
                    <a:solidFill>
                      <a:srgbClr val="FFFFFF"/>
                    </a:solidFill>
                  </a:tcPr>
                </a:tc>
                <a:tc>
                  <a:txBody>
                    <a:bodyPr/>
                    <a:lstStyle/>
                    <a:p>
                      <a:pPr>
                        <a:defRPr sz="950">
                          <a:latin typeface="Segoe UI"/>
                        </a:defRPr>
                      </a:pPr>
                      <a:r>
                        <a:t>Cổ phần Vesting 3 năm, phụ trách lâm sàng</a:t>
                      </a:r>
                    </a:p>
                  </a:txBody>
                  <a:tcPr>
                    <a:solidFill>
                      <a:srgbClr val="FFFFFF"/>
                    </a:solidFill>
                  </a:tcPr>
                </a:tc>
              </a:tr>
              <a:tr h="950976">
                <a:tc>
                  <a:txBody>
                    <a:bodyPr/>
                    <a:lstStyle/>
                    <a:p>
                      <a:pPr>
                        <a:defRPr sz="950" b="1">
                          <a:solidFill>
                            <a:srgbClr val="0E1E40"/>
                          </a:solidFill>
                          <a:latin typeface="Segoe UI"/>
                        </a:defRPr>
                      </a:pPr>
                      <a:r>
                        <a:t>TỔNG VỐN ĐIỀU LỆ THỰC GÓP</a:t>
                      </a:r>
                    </a:p>
                  </a:txBody>
                  <a:tcPr>
                    <a:solidFill>
                      <a:srgbClr val="FEF3C7"/>
                    </a:solidFill>
                  </a:tcPr>
                </a:tc>
                <a:tc>
                  <a:txBody>
                    <a:bodyPr/>
                    <a:lstStyle/>
                    <a:p>
                      <a:pPr algn="r">
                        <a:defRPr sz="950" b="1">
                          <a:solidFill>
                            <a:srgbClr val="0E1E40"/>
                          </a:solidFill>
                          <a:latin typeface="Segoe UI"/>
                        </a:defRPr>
                      </a:pPr>
                      <a:r>
                        <a:t>100,0%</a:t>
                      </a:r>
                    </a:p>
                  </a:txBody>
                  <a:tcPr>
                    <a:solidFill>
                      <a:srgbClr val="FEF3C7"/>
                    </a:solidFill>
                  </a:tcPr>
                </a:tc>
                <a:tc>
                  <a:txBody>
                    <a:bodyPr/>
                    <a:lstStyle/>
                    <a:p>
                      <a:pPr algn="r">
                        <a:defRPr sz="950" b="1">
                          <a:solidFill>
                            <a:srgbClr val="0E1E40"/>
                          </a:solidFill>
                          <a:latin typeface="Segoe UI"/>
                        </a:defRPr>
                      </a:pPr>
                      <a:r>
                        <a:t>$125.798</a:t>
                      </a:r>
                    </a:p>
                  </a:txBody>
                  <a:tcPr>
                    <a:solidFill>
                      <a:srgbClr val="FEF3C7"/>
                    </a:solidFill>
                  </a:tcPr>
                </a:tc>
                <a:tc>
                  <a:txBody>
                    <a:bodyPr/>
                    <a:lstStyle/>
                    <a:p>
                      <a:pPr algn="r">
                        <a:defRPr sz="950" b="1">
                          <a:solidFill>
                            <a:srgbClr val="0E1E40"/>
                          </a:solidFill>
                          <a:latin typeface="Segoe UI"/>
                        </a:defRPr>
                      </a:pPr>
                      <a:r>
                        <a:t>~3.256 Tr</a:t>
                      </a:r>
                    </a:p>
                  </a:txBody>
                  <a:tcPr>
                    <a:solidFill>
                      <a:srgbClr val="FEF3C7"/>
                    </a:solidFill>
                  </a:tcPr>
                </a:tc>
                <a:tc>
                  <a:txBody>
                    <a:bodyPr/>
                    <a:lstStyle/>
                    <a:p>
                      <a:pPr>
                        <a:defRPr sz="950" b="1">
                          <a:solidFill>
                            <a:srgbClr val="0E1E40"/>
                          </a:solidFill>
                          <a:latin typeface="Segoe UI"/>
                        </a:defRPr>
                      </a:pPr>
                      <a:r>
                        <a:t>Quy mô 3 ghế nha &amp; Máy CT ConeBeam 3D</a:t>
                      </a:r>
                    </a:p>
                  </a:txBody>
                  <a:tcPr>
                    <a:solidFill>
                      <a:srgbClr val="FEF3C7"/>
                    </a:solidFill>
                  </a:tcPr>
                </a:tc>
              </a:tr>
            </a:tbl>
          </a:graphicData>
        </a:graphic>
      </p:graphicFrame>
      <p:sp>
        <p:nvSpPr>
          <p:cNvPr id="8" name="Rounded Rectangle 7"/>
          <p:cNvSpPr/>
          <p:nvPr/>
        </p:nvSpPr>
        <p:spPr>
          <a:xfrm>
            <a:off x="7772400" y="1554480"/>
            <a:ext cx="3687775" cy="47548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737360"/>
            <a:ext cx="3291840" cy="4389120"/>
          </a:xfrm>
          <a:prstGeom prst="rect">
            <a:avLst/>
          </a:prstGeom>
          <a:noFill/>
        </p:spPr>
        <p:txBody>
          <a:bodyPr wrap="square">
            <a:spAutoFit/>
          </a:bodyPr>
          <a:lstStyle/>
          <a:p>
            <a:pPr>
              <a:spcAft>
                <a:spcPts val="1200"/>
              </a:spcAft>
              <a:defRPr sz="1200" b="1">
                <a:solidFill>
                  <a:srgbClr val="0284C7"/>
                </a:solidFill>
                <a:latin typeface="Segoe UI"/>
              </a:defRPr>
            </a:pPr>
            <a:r>
              <a:t>🏛 NGUYÊN TẮC QUẢN TRỊ MINH BẠCH</a:t>
            </a:r>
          </a:p>
          <a:p>
            <a:pPr>
              <a:spcAft>
                <a:spcPts val="800"/>
              </a:spcAft>
              <a:defRPr sz="1000" b="1">
                <a:solidFill>
                  <a:srgbClr val="0F172A"/>
                </a:solidFill>
                <a:latin typeface="Segoe UI"/>
              </a:defRPr>
            </a:pPr>
            <a:r>
              <a:t>• Phê duyệt kép (Dual Authorization): </a:t>
            </a:r>
            <a:r>
              <a:rPr b="0">
                <a:solidFill>
                  <a:srgbClr val="475569"/>
                </a:solidFill>
              </a:rPr>
              <a:t>Tài khoản ngân hàng BCEL &amp; VCB áp dụng chữ ký số kép. Mọi khoản chi &gt;1.000 USD bắt buộc có sự đồng thuận của đại diện Cổ đông Tài chính.</a:t>
            </a:r>
          </a:p>
          <a:p>
            <a:pPr>
              <a:spcAft>
                <a:spcPts val="800"/>
              </a:spcAft>
              <a:defRPr sz="1000" b="1">
                <a:solidFill>
                  <a:srgbClr val="0F172A"/>
                </a:solidFill>
                <a:latin typeface="Segoe UI"/>
              </a:defRPr>
            </a:pPr>
            <a:r>
              <a:t>• Quyền phủ quyết (&gt;75% biểu quyết): </a:t>
            </a:r>
            <a:r>
              <a:rPr b="0">
                <a:solidFill>
                  <a:srgbClr val="475569"/>
                </a:solidFill>
              </a:rPr>
              <a:t>Các quyết định trọng yếu như tăng giảm vốn, vay nợ, sáp nhập cơ sở hoặc thay đổi Bác sĩ Trưởng phải đạt tối thiểu 75% cổ phần có quyền biểu quyết.</a:t>
            </a:r>
          </a:p>
          <a:p>
            <a:pPr>
              <a:spcAft>
                <a:spcPts val="800"/>
              </a:spcAft>
              <a:defRPr sz="1000" b="1">
                <a:solidFill>
                  <a:srgbClr val="0F172A"/>
                </a:solidFill>
                <a:latin typeface="Segoe UI"/>
              </a:defRPr>
            </a:pPr>
            <a:r>
              <a:t>• Vesting cổ phần 3 năm: </a:t>
            </a:r>
            <a:r>
              <a:rPr b="0">
                <a:solidFill>
                  <a:srgbClr val="475569"/>
                </a:solidFill>
              </a:rPr>
              <a:t>15% cổ phần của Bác sĩ Trưởng được giải ngân lũy tiến 5%/năm trong 3 năm cam kết gắn bó, triệt tiêu rủi ro 'bác sĩ giỏi nghỉ việc kéo theo bệnh nhân'.</a:t>
            </a:r>
          </a:p>
          <a:p>
            <a:pPr>
              <a:spcAft>
                <a:spcPts val="800"/>
              </a:spcAft>
              <a:defRPr sz="1000" b="1">
                <a:solidFill>
                  <a:srgbClr val="0F172A"/>
                </a:solidFill>
                <a:latin typeface="Segoe UI"/>
              </a:defRPr>
            </a:pPr>
            <a:r>
              <a:t>• Khóa chuyển nhượng (Lock-up): </a:t>
            </a:r>
            <a:r>
              <a:rPr b="0">
                <a:solidFill>
                  <a:srgbClr val="475569"/>
                </a:solidFill>
              </a:rPr>
              <a:t>Cổ đông cam kết không chuyển nhượng cổ phần ra ngoài trong 24 tháng đầu để cơ sở phát triển bền vững.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08. Kế Hoạch Giải Ngân Vốn 3 Đợt Theo Cột Mốc Thực Tế</a:t>
            </a:r>
          </a:p>
          <a:p>
            <a:pPr>
              <a:defRPr sz="1200" b="1">
                <a:solidFill>
                  <a:srgbClr val="0284C7"/>
                </a:solidFill>
                <a:latin typeface="Segoe UI"/>
              </a:defRPr>
            </a:pPr>
            <a:r>
              <a:t>Tiền rót đúng tiến độ chuẩn bị gọn trong 30 ngày — Tuyệt đối không chôn vốn chết lãng phí</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08</a:t>
            </a:r>
          </a:p>
        </p:txBody>
      </p:sp>
      <p:sp>
        <p:nvSpPr>
          <p:cNvPr id="7" name="Rounded Rectangle 6"/>
          <p:cNvSpPr/>
          <p:nvPr/>
        </p:nvSpPr>
        <p:spPr>
          <a:xfrm>
            <a:off x="731520" y="1554480"/>
            <a:ext cx="342900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54480"/>
            <a:ext cx="3429000" cy="109728"/>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37360"/>
            <a:ext cx="3429000" cy="4480560"/>
          </a:xfrm>
          <a:prstGeom prst="rect">
            <a:avLst/>
          </a:prstGeom>
          <a:noFill/>
        </p:spPr>
        <p:txBody>
          <a:bodyPr wrap="square" lIns="137160" rIns="137160">
            <a:spAutoFit/>
          </a:bodyPr>
          <a:lstStyle/>
          <a:p>
            <a:pPr>
              <a:defRPr sz="1100" b="1">
                <a:solidFill>
                  <a:srgbClr val="0E1E40"/>
                </a:solidFill>
                <a:latin typeface="Segoe UI"/>
              </a:defRPr>
            </a:pPr>
            <a:r>
              <a:t>ĐỢT 1: KHỞI ĐỘNG, TIỀN NHÀ 1 NĂM &amp; ĐẶT MÁY</a:t>
            </a:r>
          </a:p>
          <a:p>
            <a:pPr>
              <a:spcBef>
                <a:spcPts val="300"/>
              </a:spcBef>
              <a:defRPr sz="1000" b="1">
                <a:solidFill>
                  <a:srgbClr val="D97706"/>
                </a:solidFill>
                <a:latin typeface="Segoe UI"/>
              </a:defRPr>
            </a:pPr>
            <a:r>
              <a:t>⏱ Cột mốc kích hoạt: NGÀY 01 – 07</a:t>
            </a:r>
          </a:p>
          <a:p>
            <a:pPr>
              <a:spcBef>
                <a:spcPts val="400"/>
              </a:spcBef>
              <a:spcAft>
                <a:spcPts val="1200"/>
              </a:spcAft>
              <a:defRPr sz="1400" b="1">
                <a:solidFill>
                  <a:srgbClr val="0E1E40"/>
                </a:solidFill>
                <a:latin typeface="Segoe UI"/>
              </a:defRPr>
            </a:pPr>
            <a:r>
              <a:t>25,0% | $31.450 USD (~814 Tr VNĐ)</a:t>
            </a:r>
          </a:p>
          <a:p>
            <a:pPr>
              <a:spcAft>
                <a:spcPts val="800"/>
              </a:spcAft>
              <a:defRPr sz="1000">
                <a:solidFill>
                  <a:srgbClr val="0F172A"/>
                </a:solidFill>
                <a:latin typeface="Segoe UI"/>
              </a:defRPr>
            </a:pPr>
            <a:r>
              <a:t>✔ Ký hợp đồng thuê mặt bằng &amp; thanh toán thẳng 1 năm tiền nhà ($6.000 USD ~ 155,3 tr VNĐ).</a:t>
            </a:r>
          </a:p>
          <a:p>
            <a:pPr>
              <a:spcAft>
                <a:spcPts val="800"/>
              </a:spcAft>
              <a:defRPr sz="1000">
                <a:solidFill>
                  <a:srgbClr val="0F172A"/>
                </a:solidFill>
                <a:latin typeface="Segoe UI"/>
              </a:defRPr>
            </a:pPr>
            <a:r>
              <a:t>✔ Thực hiện các thủ tục đăng ký pháp lý cơ bản ban đầu tại MPI Champasak.</a:t>
            </a:r>
          </a:p>
          <a:p>
            <a:pPr>
              <a:spcAft>
                <a:spcPts val="800"/>
              </a:spcAft>
              <a:defRPr sz="1000">
                <a:solidFill>
                  <a:srgbClr val="0F172A"/>
                </a:solidFill>
                <a:latin typeface="Segoe UI"/>
              </a:defRPr>
            </a:pPr>
            <a:r>
              <a:t>✔ Đặt cọc 50% tiền thiết bị y tế (3 ghế nha Ajax, Máy CT ConeBeam 3D) để xuất xưởng chuyển về cửa khẩu.</a:t>
            </a:r>
          </a:p>
        </p:txBody>
      </p:sp>
      <p:sp>
        <p:nvSpPr>
          <p:cNvPr id="10" name="Rounded Rectangle 9"/>
          <p:cNvSpPr/>
          <p:nvPr/>
        </p:nvSpPr>
        <p:spPr>
          <a:xfrm>
            <a:off x="4379976" y="1554480"/>
            <a:ext cx="342900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9976" y="1554480"/>
            <a:ext cx="3429000" cy="10972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9976" y="1737360"/>
            <a:ext cx="3429000" cy="4480560"/>
          </a:xfrm>
          <a:prstGeom prst="rect">
            <a:avLst/>
          </a:prstGeom>
          <a:noFill/>
        </p:spPr>
        <p:txBody>
          <a:bodyPr wrap="square" lIns="137160" rIns="137160">
            <a:spAutoFit/>
          </a:bodyPr>
          <a:lstStyle/>
          <a:p>
            <a:pPr>
              <a:defRPr sz="1100" b="1">
                <a:solidFill>
                  <a:srgbClr val="0284C7"/>
                </a:solidFill>
                <a:latin typeface="Segoe UI"/>
              </a:defRPr>
            </a:pPr>
            <a:r>
              <a:t>ĐỢT 2: THI CÔNG CHỈNH TRANG &amp; THÔNG QUAN</a:t>
            </a:r>
          </a:p>
          <a:p>
            <a:pPr>
              <a:spcBef>
                <a:spcPts val="300"/>
              </a:spcBef>
              <a:defRPr sz="1000" b="1">
                <a:solidFill>
                  <a:srgbClr val="D97706"/>
                </a:solidFill>
                <a:latin typeface="Segoe UI"/>
              </a:defRPr>
            </a:pPr>
            <a:r>
              <a:t>⏱ Cột mốc kích hoạt: NGÀY 08 – 20</a:t>
            </a:r>
          </a:p>
          <a:p>
            <a:pPr>
              <a:spcBef>
                <a:spcPts val="400"/>
              </a:spcBef>
              <a:spcAft>
                <a:spcPts val="1200"/>
              </a:spcAft>
              <a:defRPr sz="1400" b="1">
                <a:solidFill>
                  <a:srgbClr val="0E1E40"/>
                </a:solidFill>
                <a:latin typeface="Segoe UI"/>
              </a:defRPr>
            </a:pPr>
            <a:r>
              <a:t>50,0% | $62.899 USD (~1.628 Tr VNĐ)</a:t>
            </a:r>
          </a:p>
          <a:p>
            <a:pPr>
              <a:spcAft>
                <a:spcPts val="800"/>
              </a:spcAft>
              <a:defRPr sz="1000">
                <a:solidFill>
                  <a:srgbClr val="0F172A"/>
                </a:solidFill>
                <a:latin typeface="Segoe UI"/>
              </a:defRPr>
            </a:pPr>
            <a:r>
              <a:t>✔ Thanh toán đội thầu thi công hạ tầng ngầm (ống nước, khí nén, dây điện) và ốp vách chì 2mm (12-15 ngày).</a:t>
            </a:r>
          </a:p>
          <a:p>
            <a:pPr>
              <a:spcAft>
                <a:spcPts val="800"/>
              </a:spcAft>
              <a:defRPr sz="1000">
                <a:solidFill>
                  <a:srgbClr val="0F172A"/>
                </a:solidFill>
                <a:latin typeface="Segoe UI"/>
              </a:defRPr>
            </a:pPr>
            <a:r>
              <a:t>✔ Dán sàn vinyl kháng khuẩn, hoàn thiện sơn bả nội thất phòng khám.</a:t>
            </a:r>
          </a:p>
          <a:p>
            <a:pPr>
              <a:spcAft>
                <a:spcPts val="800"/>
              </a:spcAft>
              <a:defRPr sz="1000">
                <a:solidFill>
                  <a:srgbClr val="0F172A"/>
                </a:solidFill>
                <a:latin typeface="Segoe UI"/>
              </a:defRPr>
            </a:pPr>
            <a:r>
              <a:t>✔ Thanh toán đối ứng thiết bị y tế khi xe hàng thông quan chuyển về thẳng Pakse.</a:t>
            </a:r>
          </a:p>
        </p:txBody>
      </p:sp>
      <p:sp>
        <p:nvSpPr>
          <p:cNvPr id="13" name="Rounded Rectangle 12"/>
          <p:cNvSpPr/>
          <p:nvPr/>
        </p:nvSpPr>
        <p:spPr>
          <a:xfrm>
            <a:off x="8028432" y="1554480"/>
            <a:ext cx="3429000"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28432" y="1554480"/>
            <a:ext cx="342900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8432" y="1737360"/>
            <a:ext cx="3429000" cy="4480560"/>
          </a:xfrm>
          <a:prstGeom prst="rect">
            <a:avLst/>
          </a:prstGeom>
          <a:noFill/>
        </p:spPr>
        <p:txBody>
          <a:bodyPr wrap="square" lIns="137160" rIns="137160">
            <a:spAutoFit/>
          </a:bodyPr>
          <a:lstStyle/>
          <a:p>
            <a:pPr>
              <a:defRPr sz="1100" b="1">
                <a:solidFill>
                  <a:srgbClr val="059669"/>
                </a:solidFill>
                <a:latin typeface="Segoe UI"/>
              </a:defRPr>
            </a:pPr>
            <a:r>
              <a:t>ĐỢT 3: LẮP ĐẶT, CHẠY THỬ &amp; KHAI TRƯƠNG T11</a:t>
            </a:r>
          </a:p>
          <a:p>
            <a:pPr>
              <a:spcBef>
                <a:spcPts val="300"/>
              </a:spcBef>
              <a:defRPr sz="1000" b="1">
                <a:solidFill>
                  <a:srgbClr val="D97706"/>
                </a:solidFill>
                <a:latin typeface="Segoe UI"/>
              </a:defRPr>
            </a:pPr>
            <a:r>
              <a:t>⏱ Cột mốc kích hoạt: NGÀY 21 – 30</a:t>
            </a:r>
          </a:p>
          <a:p>
            <a:pPr>
              <a:spcBef>
                <a:spcPts val="400"/>
              </a:spcBef>
              <a:spcAft>
                <a:spcPts val="1200"/>
              </a:spcAft>
              <a:defRPr sz="1400" b="1">
                <a:solidFill>
                  <a:srgbClr val="0E1E40"/>
                </a:solidFill>
                <a:latin typeface="Segoe UI"/>
              </a:defRPr>
            </a:pPr>
            <a:r>
              <a:t>25,0% | $31.450 USD (~814 Tr VNĐ)</a:t>
            </a:r>
          </a:p>
          <a:p>
            <a:pPr>
              <a:spcAft>
                <a:spcPts val="800"/>
              </a:spcAft>
              <a:defRPr sz="1000">
                <a:solidFill>
                  <a:srgbClr val="0F172A"/>
                </a:solidFill>
                <a:latin typeface="Segoe UI"/>
              </a:defRPr>
            </a:pPr>
            <a:r>
              <a:t>✔ Kỹ sư lắp đặt căn chỉnh 3 ghế nha khoa &amp; máy chụp CT 3D (3 – 5 ngày).</a:t>
            </a:r>
          </a:p>
          <a:p>
            <a:pPr>
              <a:spcAft>
                <a:spcPts val="800"/>
              </a:spcAft>
              <a:defRPr sz="1000">
                <a:solidFill>
                  <a:srgbClr val="0F172A"/>
                </a:solidFill>
                <a:latin typeface="Segoe UI"/>
              </a:defRPr>
            </a:pPr>
            <a:r>
              <a:t>✔ Lắp đặt biển quảng cáo ngoài trời, quầy lễ tân, mạng LAN và Cloud PMS.</a:t>
            </a:r>
          </a:p>
          <a:p>
            <a:pPr>
              <a:spcAft>
                <a:spcPts val="800"/>
              </a:spcAft>
              <a:defRPr sz="1000">
                <a:solidFill>
                  <a:srgbClr val="0F172A"/>
                </a:solidFill>
                <a:latin typeface="Segoe UI"/>
              </a:defRPr>
            </a:pPr>
            <a:r>
              <a:t>✔ Rót quỹ tiền mặt vốn lưu động đệm an toàn, sẵn sàng mở cửa đón bệnh nhân ngay trong Tháng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09. Lộ Trình Thần Tốc 30 – 35 Ngày Khai Trương Tháng 11</a:t>
            </a:r>
          </a:p>
          <a:p>
            <a:pPr>
              <a:defRPr sz="1200" b="1">
                <a:solidFill>
                  <a:srgbClr val="0284C7"/>
                </a:solidFill>
                <a:latin typeface="Segoe UI"/>
              </a:defRPr>
            </a:pPr>
            <a:r>
              <a:t>Mặt bằng thuê sẵn, chỉ chỉnh trang nội thất nhẹ — Thủ tục cơ bản làm nhanh, giấy phép hoàn tất song song</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09</a:t>
            </a:r>
          </a:p>
        </p:txBody>
      </p:sp>
      <p:sp>
        <p:nvSpPr>
          <p:cNvPr id="7" name="Rounded Rectangle 6"/>
          <p:cNvSpPr/>
          <p:nvPr/>
        </p:nvSpPr>
        <p:spPr>
          <a:xfrm>
            <a:off x="731520" y="1554480"/>
            <a:ext cx="2542032"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54480"/>
            <a:ext cx="2542032" cy="109728"/>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37360"/>
            <a:ext cx="2542032" cy="4480560"/>
          </a:xfrm>
          <a:prstGeom prst="rect">
            <a:avLst/>
          </a:prstGeom>
          <a:noFill/>
        </p:spPr>
        <p:txBody>
          <a:bodyPr wrap="square" lIns="109728" rIns="109728">
            <a:spAutoFit/>
          </a:bodyPr>
          <a:lstStyle/>
          <a:p>
            <a:pPr>
              <a:defRPr sz="1000" b="1">
                <a:solidFill>
                  <a:srgbClr val="0E1E40"/>
                </a:solidFill>
                <a:latin typeface="Segoe UI"/>
              </a:defRPr>
            </a:pPr>
            <a:r>
              <a:t>TUẦN 1: NGÀY 01 – 07</a:t>
            </a:r>
          </a:p>
          <a:p>
            <a:pPr>
              <a:spcBef>
                <a:spcPts val="300"/>
              </a:spcBef>
              <a:spcAft>
                <a:spcPts val="1200"/>
              </a:spcAft>
              <a:defRPr sz="1200" b="1">
                <a:solidFill>
                  <a:srgbClr val="0E1E40"/>
                </a:solidFill>
                <a:latin typeface="Segoe UI"/>
              </a:defRPr>
            </a:pPr>
            <a:r>
              <a:t>KHỞI ĐỘNG &amp; ĐẶT MÁY</a:t>
            </a:r>
          </a:p>
          <a:p>
            <a:pPr>
              <a:spcAft>
                <a:spcPts val="800"/>
              </a:spcAft>
              <a:defRPr sz="950">
                <a:solidFill>
                  <a:srgbClr val="0F172A"/>
                </a:solidFill>
                <a:latin typeface="Segoe UI"/>
              </a:defRPr>
            </a:pPr>
            <a:r>
              <a:t>• Ký hợp đồng thầu thi công hạ tầng ngầm và ốp chì phòng CT.</a:t>
            </a:r>
          </a:p>
          <a:p>
            <a:pPr>
              <a:spcAft>
                <a:spcPts val="800"/>
              </a:spcAft>
              <a:defRPr sz="950">
                <a:solidFill>
                  <a:srgbClr val="0F172A"/>
                </a:solidFill>
                <a:latin typeface="Segoe UI"/>
              </a:defRPr>
            </a:pPr>
            <a:r>
              <a:t>• Ký hợp đồng mua 3 ghế nha, máy CT ConeBeam 3D, nồi hấp Class B.</a:t>
            </a:r>
          </a:p>
          <a:p>
            <a:pPr>
              <a:spcAft>
                <a:spcPts val="800"/>
              </a:spcAft>
              <a:defRPr sz="950">
                <a:solidFill>
                  <a:srgbClr val="0F172A"/>
                </a:solidFill>
                <a:latin typeface="Segoe UI"/>
              </a:defRPr>
            </a:pPr>
            <a:r>
              <a:t>• Làm thủ tục nhanh nhất có thể: Nộp đăng ký doanh nghiệp MPI và ký bảo trợ chuyên môn Bác sĩ Lào.</a:t>
            </a:r>
          </a:p>
        </p:txBody>
      </p:sp>
      <p:sp>
        <p:nvSpPr>
          <p:cNvPr id="10" name="Rounded Rectangle 9"/>
          <p:cNvSpPr/>
          <p:nvPr/>
        </p:nvSpPr>
        <p:spPr>
          <a:xfrm>
            <a:off x="3456432" y="1554480"/>
            <a:ext cx="2542032"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56432" y="1554480"/>
            <a:ext cx="2542032" cy="10972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56432" y="1737360"/>
            <a:ext cx="2542032" cy="4480560"/>
          </a:xfrm>
          <a:prstGeom prst="rect">
            <a:avLst/>
          </a:prstGeom>
          <a:noFill/>
        </p:spPr>
        <p:txBody>
          <a:bodyPr wrap="square" lIns="109728" rIns="109728">
            <a:spAutoFit/>
          </a:bodyPr>
          <a:lstStyle/>
          <a:p>
            <a:pPr>
              <a:defRPr sz="1000" b="1">
                <a:solidFill>
                  <a:srgbClr val="0284C7"/>
                </a:solidFill>
                <a:latin typeface="Segoe UI"/>
              </a:defRPr>
            </a:pPr>
            <a:r>
              <a:t>TUẦN 2 &amp; 3: NGÀY 08 – 22</a:t>
            </a:r>
          </a:p>
          <a:p>
            <a:pPr>
              <a:spcBef>
                <a:spcPts val="300"/>
              </a:spcBef>
              <a:spcAft>
                <a:spcPts val="1200"/>
              </a:spcAft>
              <a:defRPr sz="1200" b="1">
                <a:solidFill>
                  <a:srgbClr val="0E1E40"/>
                </a:solidFill>
                <a:latin typeface="Segoe UI"/>
              </a:defRPr>
            </a:pPr>
            <a:r>
              <a:t>THI CÔNG CHỈNH TRANG 15 NGÀY</a:t>
            </a:r>
          </a:p>
          <a:p>
            <a:pPr>
              <a:spcAft>
                <a:spcPts val="800"/>
              </a:spcAft>
              <a:defRPr sz="950">
                <a:solidFill>
                  <a:srgbClr val="0F172A"/>
                </a:solidFill>
                <a:latin typeface="Segoe UI"/>
              </a:defRPr>
            </a:pPr>
            <a:r>
              <a:t>• Đội thầu thi công liên tục 12 - 15 ngày hoàn thiện hạ tầng ngầm, vách chì và dán sàn vinyl y tế.</a:t>
            </a:r>
          </a:p>
          <a:p>
            <a:pPr>
              <a:spcAft>
                <a:spcPts val="800"/>
              </a:spcAft>
              <a:defRPr sz="950">
                <a:solidFill>
                  <a:srgbClr val="0F172A"/>
                </a:solidFill>
                <a:latin typeface="Segoe UI"/>
              </a:defRPr>
            </a:pPr>
            <a:r>
              <a:t>• Sơn bả nội thất, cải tạo nhẹ sảnh đón khách.</a:t>
            </a:r>
          </a:p>
          <a:p>
            <a:pPr>
              <a:spcAft>
                <a:spcPts val="800"/>
              </a:spcAft>
              <a:defRPr sz="950">
                <a:solidFill>
                  <a:srgbClr val="0F172A"/>
                </a:solidFill>
                <a:latin typeface="Segoe UI"/>
              </a:defRPr>
            </a:pPr>
            <a:r>
              <a:t>• Thiết bị y tế hoàn tất thông quan cửa khẩu, chở thẳng về cơ sở Pakse.</a:t>
            </a:r>
          </a:p>
        </p:txBody>
      </p:sp>
      <p:sp>
        <p:nvSpPr>
          <p:cNvPr id="13" name="Rounded Rectangle 12"/>
          <p:cNvSpPr/>
          <p:nvPr/>
        </p:nvSpPr>
        <p:spPr>
          <a:xfrm>
            <a:off x="6181344" y="1554480"/>
            <a:ext cx="2542032"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1554480"/>
            <a:ext cx="2542032"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81344" y="1737360"/>
            <a:ext cx="2542032" cy="4480560"/>
          </a:xfrm>
          <a:prstGeom prst="rect">
            <a:avLst/>
          </a:prstGeom>
          <a:noFill/>
        </p:spPr>
        <p:txBody>
          <a:bodyPr wrap="square" lIns="109728" rIns="109728">
            <a:spAutoFit/>
          </a:bodyPr>
          <a:lstStyle/>
          <a:p>
            <a:pPr>
              <a:defRPr sz="1000" b="1">
                <a:solidFill>
                  <a:srgbClr val="D97706"/>
                </a:solidFill>
                <a:latin typeface="Segoe UI"/>
              </a:defRPr>
            </a:pPr>
            <a:r>
              <a:t>TUẦN 4: NGÀY 23 – 28</a:t>
            </a:r>
          </a:p>
          <a:p>
            <a:pPr>
              <a:spcBef>
                <a:spcPts val="300"/>
              </a:spcBef>
              <a:spcAft>
                <a:spcPts val="1200"/>
              </a:spcAft>
              <a:defRPr sz="1200" b="1">
                <a:solidFill>
                  <a:srgbClr val="0E1E40"/>
                </a:solidFill>
                <a:latin typeface="Segoe UI"/>
              </a:defRPr>
            </a:pPr>
            <a:r>
              <a:t>LẮP ĐẶT THIẾT BỊ (3 – 5 NGÀY)</a:t>
            </a:r>
          </a:p>
          <a:p>
            <a:pPr>
              <a:spcAft>
                <a:spcPts val="800"/>
              </a:spcAft>
              <a:defRPr sz="950">
                <a:solidFill>
                  <a:srgbClr val="0F172A"/>
                </a:solidFill>
                <a:latin typeface="Segoe UI"/>
              </a:defRPr>
            </a:pPr>
            <a:r>
              <a:t>• Kỹ sư lắp đặt hoàn chỉnh 3 ghế nha và căn chỉnh máy CT 3D (3 – 5 ngày).</a:t>
            </a:r>
          </a:p>
          <a:p>
            <a:pPr>
              <a:spcAft>
                <a:spcPts val="800"/>
              </a:spcAft>
              <a:defRPr sz="950">
                <a:solidFill>
                  <a:srgbClr val="0F172A"/>
                </a:solidFill>
                <a:latin typeface="Segoe UI"/>
              </a:defRPr>
            </a:pPr>
            <a:r>
              <a:t>• Treo biển quảng cáo OOH, lắp đặt quầy lễ tân, mạng LAN và Cloud PMS.</a:t>
            </a:r>
          </a:p>
          <a:p>
            <a:pPr>
              <a:spcAft>
                <a:spcPts val="800"/>
              </a:spcAft>
              <a:defRPr sz="950">
                <a:solidFill>
                  <a:srgbClr val="0F172A"/>
                </a:solidFill>
                <a:latin typeface="Segoe UI"/>
              </a:defRPr>
            </a:pPr>
            <a:r>
              <a:t>• Bác sĩ và 3 phụ tá kiểm tra vô trùng dụng cụ, nhập thuốc &amp; vật tư ban đầu.</a:t>
            </a:r>
          </a:p>
        </p:txBody>
      </p:sp>
      <p:sp>
        <p:nvSpPr>
          <p:cNvPr id="16" name="Rounded Rectangle 15"/>
          <p:cNvSpPr/>
          <p:nvPr/>
        </p:nvSpPr>
        <p:spPr>
          <a:xfrm>
            <a:off x="8906256" y="1554480"/>
            <a:ext cx="2542032" cy="47548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06256" y="1554480"/>
            <a:ext cx="2542032"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06256" y="1737360"/>
            <a:ext cx="2542032" cy="4480560"/>
          </a:xfrm>
          <a:prstGeom prst="rect">
            <a:avLst/>
          </a:prstGeom>
          <a:noFill/>
        </p:spPr>
        <p:txBody>
          <a:bodyPr wrap="square" lIns="109728" rIns="109728">
            <a:spAutoFit/>
          </a:bodyPr>
          <a:lstStyle/>
          <a:p>
            <a:pPr>
              <a:defRPr sz="1000" b="1">
                <a:solidFill>
                  <a:srgbClr val="059669"/>
                </a:solidFill>
                <a:latin typeface="Segoe UI"/>
              </a:defRPr>
            </a:pPr>
            <a:r>
              <a:t>TUẦN 5: NGÀY 29 – 35</a:t>
            </a:r>
          </a:p>
          <a:p>
            <a:pPr>
              <a:spcBef>
                <a:spcPts val="300"/>
              </a:spcBef>
              <a:spcAft>
                <a:spcPts val="1200"/>
              </a:spcAft>
              <a:defRPr sz="1200" b="1">
                <a:solidFill>
                  <a:srgbClr val="0E1E40"/>
                </a:solidFill>
                <a:latin typeface="Segoe UI"/>
              </a:defRPr>
            </a:pPr>
            <a:r>
              <a:t>KHAI TRƯƠNG CHÍNH THỨC (T11)</a:t>
            </a:r>
          </a:p>
          <a:p>
            <a:pPr>
              <a:spcAft>
                <a:spcPts val="800"/>
              </a:spcAft>
              <a:defRPr sz="950">
                <a:solidFill>
                  <a:srgbClr val="0F172A"/>
                </a:solidFill>
                <a:latin typeface="Segoe UI"/>
              </a:defRPr>
            </a:pPr>
            <a:r>
              <a:t>• Chạy thử lâm sàng nội bộ (Soft-opening 2 ngày) tiếp đón khách quen.</a:t>
            </a:r>
          </a:p>
          <a:p>
            <a:pPr>
              <a:spcAft>
                <a:spcPts val="800"/>
              </a:spcAft>
              <a:defRPr sz="950">
                <a:solidFill>
                  <a:srgbClr val="0F172A"/>
                </a:solidFill>
                <a:latin typeface="Segoe UI"/>
              </a:defRPr>
            </a:pPr>
            <a:r>
              <a:t>• TỔ CHỨC GRAND OPENING đón bệnh nhân ngay trong Tháng 11!</a:t>
            </a:r>
          </a:p>
          <a:p>
            <a:pPr>
              <a:spcAft>
                <a:spcPts val="800"/>
              </a:spcAft>
              <a:defRPr sz="950">
                <a:solidFill>
                  <a:srgbClr val="0F172A"/>
                </a:solidFill>
                <a:latin typeface="Segoe UI"/>
              </a:defRPr>
            </a:pPr>
            <a:r>
              <a:t>• Hồ sơ giấy phép chuyên môn y tế tiếp tục hoàn tất song song khi cơ sở đang vận hành.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10. Cơ Chế Thu Hồi Vốn Ưu Tiên &amp; Phân Phối Cổ Tức</a:t>
            </a:r>
          </a:p>
          <a:p>
            <a:pPr>
              <a:defRPr sz="1200" b="1">
                <a:solidFill>
                  <a:srgbClr val="0284C7"/>
                </a:solidFill>
                <a:latin typeface="Segoe UI"/>
              </a:defRPr>
            </a:pPr>
            <a:r>
              <a:t>Cam kết bảo vệ quyền lợi tối đa cho nhà đầu tư (Preferred Return Waterfall)</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10</a:t>
            </a:r>
          </a:p>
        </p:txBody>
      </p:sp>
      <p:sp>
        <p:nvSpPr>
          <p:cNvPr id="7" name="Rounded Rectangle 6"/>
          <p:cNvSpPr/>
          <p:nvPr/>
        </p:nvSpPr>
        <p:spPr>
          <a:xfrm>
            <a:off x="731520" y="1554480"/>
            <a:ext cx="5248656" cy="47548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54480"/>
            <a:ext cx="5248656"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791456" cy="4389120"/>
          </a:xfrm>
          <a:prstGeom prst="rect">
            <a:avLst/>
          </a:prstGeom>
          <a:noFill/>
        </p:spPr>
        <p:txBody>
          <a:bodyPr wrap="square">
            <a:spAutoFit/>
          </a:bodyPr>
          <a:lstStyle/>
          <a:p>
            <a:pPr>
              <a:spcAft>
                <a:spcPts val="1000"/>
              </a:spcAft>
              <a:defRPr sz="1300" b="1">
                <a:solidFill>
                  <a:srgbClr val="D97706"/>
                </a:solidFill>
                <a:latin typeface="Segoe UI"/>
              </a:defRPr>
            </a:pPr>
            <a:r>
              <a:t>GIAI ĐOẠN 1: THU HỒI VỐN ƯU TIÊN (THÁNG 1 – 6)</a:t>
            </a:r>
          </a:p>
          <a:p>
            <a:pPr>
              <a:spcAft>
                <a:spcPts val="1200"/>
              </a:spcAft>
              <a:defRPr sz="1500" b="1">
                <a:solidFill>
                  <a:srgbClr val="0E1E40"/>
                </a:solidFill>
                <a:latin typeface="Segoe UI"/>
              </a:defRPr>
            </a:pPr>
            <a:r>
              <a:t>80% DÒNG TIỀN TỰ DO (FCF) HOÀN TRẢ CỔ ĐÔNG</a:t>
            </a:r>
          </a:p>
          <a:p>
            <a:pPr>
              <a:spcAft>
                <a:spcPts val="800"/>
              </a:spcAft>
              <a:defRPr sz="1050">
                <a:solidFill>
                  <a:srgbClr val="0F172A"/>
                </a:solidFill>
                <a:latin typeface="Segoe UI"/>
              </a:defRPr>
            </a:pPr>
            <a:r>
              <a:t>✔ Trích xuất 80% Dòng tiền tự do (FCF) hàng tháng chuyển khoản trực tiếp hoàn vốn gốc cho các Cổ đông.</a:t>
            </a:r>
          </a:p>
          <a:p>
            <a:pPr>
              <a:spcAft>
                <a:spcPts val="800"/>
              </a:spcAft>
              <a:defRPr sz="1050">
                <a:solidFill>
                  <a:srgbClr val="0F172A"/>
                </a:solidFill>
                <a:latin typeface="Segoe UI"/>
              </a:defRPr>
            </a:pPr>
            <a:r>
              <a:t>✔ Tiến độ hoàn vốn thần tốc: Kịch bản Min hoàn sau 6 tháng; Kỳ vọng hoàn sau 4 tháng; Max hoàn sau 3 tháng.</a:t>
            </a:r>
          </a:p>
          <a:p>
            <a:pPr>
              <a:spcAft>
                <a:spcPts val="800"/>
              </a:spcAft>
              <a:defRPr sz="1050">
                <a:solidFill>
                  <a:srgbClr val="0F172A"/>
                </a:solidFill>
                <a:latin typeface="Segoe UI"/>
              </a:defRPr>
            </a:pPr>
            <a:r>
              <a:t>✔ 20% dòng tiền còn lại được giữ lại tài khoản phòng khám làm quỹ tiền mặt đệm an toàn dự phòng.</a:t>
            </a:r>
          </a:p>
          <a:p>
            <a:pPr>
              <a:spcAft>
                <a:spcPts val="800"/>
              </a:spcAft>
              <a:defRPr sz="1050">
                <a:solidFill>
                  <a:srgbClr val="0F172A"/>
                </a:solidFill>
                <a:latin typeface="Segoe UI"/>
              </a:defRPr>
            </a:pPr>
            <a:r>
              <a:t>✔ Toàn bộ rủi ro chôn vốn của Nhà đầu tư được xóa sạch 100% ngay trong năm hoạt động đầu tiên!</a:t>
            </a:r>
          </a:p>
        </p:txBody>
      </p:sp>
      <p:sp>
        <p:nvSpPr>
          <p:cNvPr id="10" name="Rounded Rectangle 9"/>
          <p:cNvSpPr/>
          <p:nvPr/>
        </p:nvSpPr>
        <p:spPr>
          <a:xfrm>
            <a:off x="6208776" y="1554480"/>
            <a:ext cx="5248656" cy="47548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554480"/>
            <a:ext cx="5248656"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737360"/>
            <a:ext cx="4791456" cy="4389120"/>
          </a:xfrm>
          <a:prstGeom prst="rect">
            <a:avLst/>
          </a:prstGeom>
          <a:noFill/>
        </p:spPr>
        <p:txBody>
          <a:bodyPr wrap="square">
            <a:spAutoFit/>
          </a:bodyPr>
          <a:lstStyle/>
          <a:p>
            <a:pPr>
              <a:spcAft>
                <a:spcPts val="1000"/>
              </a:spcAft>
              <a:defRPr sz="1300" b="1">
                <a:solidFill>
                  <a:srgbClr val="059669"/>
                </a:solidFill>
                <a:latin typeface="Segoe UI"/>
              </a:defRPr>
            </a:pPr>
            <a:r>
              <a:t>GIAI ĐOẠN 2: CHIA CỔ TỨC &amp; TÁI ĐẦU TƯ (SAU HOÀN VỐN)</a:t>
            </a:r>
          </a:p>
          <a:p>
            <a:pPr>
              <a:spcAft>
                <a:spcPts val="1200"/>
              </a:spcAft>
              <a:defRPr sz="1500" b="1">
                <a:solidFill>
                  <a:srgbClr val="0E1E40"/>
                </a:solidFill>
                <a:latin typeface="Segoe UI"/>
              </a:defRPr>
            </a:pPr>
            <a:r>
              <a:t>PHÂN PHỐI LỢI NHUẬN RÒNG MINH BẠCH HÀNG QUÝ</a:t>
            </a:r>
          </a:p>
          <a:p>
            <a:pPr>
              <a:spcAft>
                <a:spcPts val="800"/>
              </a:spcAft>
              <a:defRPr sz="1050">
                <a:solidFill>
                  <a:srgbClr val="0F172A"/>
                </a:solidFill>
                <a:latin typeface="Segoe UI"/>
              </a:defRPr>
            </a:pPr>
            <a:r>
              <a:t>★ 60% Lợi nhuận sau thuế: Chi trả Cổ tức tiền mặt định kỳ hàng quý cho Cổ đông theo đúng tỷ lệ sở hữu.</a:t>
            </a:r>
          </a:p>
          <a:p>
            <a:pPr>
              <a:spcAft>
                <a:spcPts val="800"/>
              </a:spcAft>
              <a:defRPr sz="1050">
                <a:solidFill>
                  <a:srgbClr val="0F172A"/>
                </a:solidFill>
                <a:latin typeface="Segoe UI"/>
              </a:defRPr>
            </a:pPr>
            <a:r>
              <a:t>★ 30% Lợi nhuận sau thuế: Trích lập Quỹ Phát triển &amp; Tái đầu tư mở rộng (chuẩn bị mở chi nhánh Vientiane hoặc thêm 2 ghế nha).</a:t>
            </a:r>
          </a:p>
          <a:p>
            <a:pPr>
              <a:spcAft>
                <a:spcPts val="800"/>
              </a:spcAft>
              <a:defRPr sz="1050">
                <a:solidFill>
                  <a:srgbClr val="0F172A"/>
                </a:solidFill>
                <a:latin typeface="Segoe UI"/>
              </a:defRPr>
            </a:pPr>
            <a:r>
              <a:t>★ 10% Lợi nhuận sau thuế: Trích Quỹ Thưởng Hiệu quả &amp; Phúc lợi nhân sự cho đội ngũ Y Bác sĩ đạt thành tích xuất sắc.</a:t>
            </a:r>
          </a:p>
          <a:p>
            <a:pPr>
              <a:spcAft>
                <a:spcPts val="800"/>
              </a:spcAft>
              <a:defRPr sz="1050">
                <a:solidFill>
                  <a:srgbClr val="0F172A"/>
                </a:solidFill>
                <a:latin typeface="Segoe UI"/>
              </a:defRPr>
            </a:pPr>
            <a:r>
              <a:t>★ Duy trì cơ chế 'cỗ máy in tiền mặt' đều đặn hàng năm với tỷ suất sinh lời trên vốn (ROI) vượt bậc.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10728655" cy="9144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137160" cy="914400"/>
          </a:xfrm>
          <a:prstGeom prst="rect">
            <a:avLst/>
          </a:prstGeom>
          <a:solidFill>
            <a:srgbClr val="0E1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84048"/>
            <a:ext cx="8686800" cy="868680"/>
          </a:xfrm>
          <a:prstGeom prst="rect">
            <a:avLst/>
          </a:prstGeom>
          <a:noFill/>
        </p:spPr>
        <p:txBody>
          <a:bodyPr wrap="square">
            <a:spAutoFit/>
          </a:bodyPr>
          <a:lstStyle/>
          <a:p>
            <a:pPr>
              <a:defRPr sz="2100" b="1">
                <a:solidFill>
                  <a:srgbClr val="0E1E40"/>
                </a:solidFill>
                <a:latin typeface="Segoe UI"/>
              </a:defRPr>
            </a:pPr>
            <a:r>
              <a:t>11. Đề Xuất Hợp Tác Đầu Tư &amp; Kế Hoạch Hành Động Ngay</a:t>
            </a:r>
          </a:p>
          <a:p>
            <a:pPr>
              <a:defRPr sz="1200" b="1">
                <a:solidFill>
                  <a:srgbClr val="0284C7"/>
                </a:solidFill>
                <a:latin typeface="Segoe UI"/>
              </a:defRPr>
            </a:pPr>
            <a:r>
              <a:t>Cơ hội độc quyền công nghệ nha khoa tại Nam Lào — Sẵn sàng khai trương Tháng 11</a:t>
            </a:r>
          </a:p>
        </p:txBody>
      </p:sp>
      <p:sp>
        <p:nvSpPr>
          <p:cNvPr id="6" name="TextBox 5"/>
          <p:cNvSpPr txBox="1"/>
          <p:nvPr/>
        </p:nvSpPr>
        <p:spPr>
          <a:xfrm>
            <a:off x="9692640" y="502920"/>
            <a:ext cx="1645920" cy="640080"/>
          </a:xfrm>
          <a:prstGeom prst="rect">
            <a:avLst/>
          </a:prstGeom>
          <a:noFill/>
        </p:spPr>
        <p:txBody>
          <a:bodyPr wrap="none">
            <a:spAutoFit/>
          </a:bodyPr>
          <a:lstStyle/>
          <a:p>
            <a:pPr algn="r">
              <a:defRPr sz="1300" b="1">
                <a:solidFill>
                  <a:srgbClr val="475569"/>
                </a:solidFill>
                <a:latin typeface="Segoe UI"/>
              </a:defRPr>
            </a:pPr>
            <a:r>
              <a:t>SLIDE 11</a:t>
            </a:r>
          </a:p>
        </p:txBody>
      </p:sp>
      <p:pic>
        <p:nvPicPr>
          <p:cNvPr id="7" name="Picture 6" descr="03_Hoi_Nghi_Nha_Dau_Tu.jpg"/>
          <p:cNvPicPr>
            <a:picLocks noChangeAspect="1"/>
          </p:cNvPicPr>
          <p:nvPr/>
        </p:nvPicPr>
        <p:blipFill>
          <a:blip r:embed="rId2"/>
          <a:stretch>
            <a:fillRect/>
          </a:stretch>
        </p:blipFill>
        <p:spPr>
          <a:xfrm>
            <a:off x="731520" y="1554480"/>
            <a:ext cx="4389120" cy="4754880"/>
          </a:xfrm>
          <a:prstGeom prst="rect">
            <a:avLst/>
          </a:prstGeom>
        </p:spPr>
      </p:pic>
      <p:sp>
        <p:nvSpPr>
          <p:cNvPr id="8" name="Rounded Rectangle 7"/>
          <p:cNvSpPr/>
          <p:nvPr/>
        </p:nvSpPr>
        <p:spPr>
          <a:xfrm>
            <a:off x="5303520" y="1554480"/>
            <a:ext cx="6156655" cy="47548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1737360"/>
            <a:ext cx="5715000" cy="4389120"/>
          </a:xfrm>
          <a:prstGeom prst="rect">
            <a:avLst/>
          </a:prstGeom>
          <a:noFill/>
        </p:spPr>
        <p:txBody>
          <a:bodyPr wrap="square">
            <a:spAutoFit/>
          </a:bodyPr>
          <a:lstStyle/>
          <a:p>
            <a:pPr>
              <a:spcAft>
                <a:spcPts val="1000"/>
              </a:spcAft>
              <a:defRPr sz="1400" b="1">
                <a:solidFill>
                  <a:srgbClr val="0E1E40"/>
                </a:solidFill>
                <a:latin typeface="Segoe UI"/>
              </a:defRPr>
            </a:pPr>
            <a:r>
              <a:t>🎯 TỔNG KẾT GIÁ TRỊ VÀNG CỦA DỰ ÁN</a:t>
            </a:r>
          </a:p>
          <a:p>
            <a:pPr>
              <a:spcAft>
                <a:spcPts val="600"/>
              </a:spcAft>
              <a:defRPr sz="1050" b="1">
                <a:solidFill>
                  <a:srgbClr val="D97706"/>
                </a:solidFill>
                <a:latin typeface="Segoe UI"/>
              </a:defRPr>
            </a:pPr>
            <a:r>
              <a:t>✔ Thị trường độc quyền công nghệ: </a:t>
            </a:r>
            <a:r>
              <a:rPr b="0">
                <a:solidFill>
                  <a:srgbClr val="0F172A"/>
                </a:solidFill>
              </a:rPr>
              <a:t>Khoảng trống y tế kỹ thuật cao tại Nam Lào; sở hữu máy CT 3D đầu tiên tại trung tâm Pakse.</a:t>
            </a:r>
          </a:p>
          <a:p>
            <a:pPr>
              <a:spcAft>
                <a:spcPts val="600"/>
              </a:spcAft>
              <a:defRPr sz="1050" b="1">
                <a:solidFill>
                  <a:srgbClr val="D97706"/>
                </a:solidFill>
                <a:latin typeface="Segoe UI"/>
              </a:defRPr>
            </a:pPr>
            <a:r>
              <a:t>✔ Định phí mặt bằng tối ưu: </a:t>
            </a:r>
            <a:r>
              <a:rPr b="0">
                <a:solidFill>
                  <a:srgbClr val="0F172A"/>
                </a:solidFill>
              </a:rPr>
              <a:t>Tiền nhà chỉ $500/tháng, thanh toán thẳng 1 năm ($6.000 USD), không chịu áp lực dòng tiền hàng tháng.</a:t>
            </a:r>
          </a:p>
          <a:p>
            <a:pPr>
              <a:spcAft>
                <a:spcPts val="600"/>
              </a:spcAft>
              <a:defRPr sz="1050" b="1">
                <a:solidFill>
                  <a:srgbClr val="D97706"/>
                </a:solidFill>
                <a:latin typeface="Segoe UI"/>
              </a:defRPr>
            </a:pPr>
            <a:r>
              <a:t>✔ Vốn đầu tư ban đầu an toàn: </a:t>
            </a:r>
            <a:r>
              <a:rPr b="0">
                <a:solidFill>
                  <a:srgbClr val="0F172A"/>
                </a:solidFill>
              </a:rPr>
              <a:t>Tổng CAPEX $125.798 USD (~3,26 tỷ VNĐ), đã bao gồm đệm lưu động và dự phòng phí 10%.</a:t>
            </a:r>
          </a:p>
          <a:p>
            <a:pPr>
              <a:spcAft>
                <a:spcPts val="600"/>
              </a:spcAft>
              <a:defRPr sz="1050" b="1">
                <a:solidFill>
                  <a:srgbClr val="D97706"/>
                </a:solidFill>
                <a:latin typeface="Segoe UI"/>
              </a:defRPr>
            </a:pPr>
            <a:r>
              <a:t>✔ Dòng tiền hoàn vốn thần tốc: </a:t>
            </a:r>
            <a:r>
              <a:rPr b="0">
                <a:solidFill>
                  <a:srgbClr val="0F172A"/>
                </a:solidFill>
              </a:rPr>
              <a:t>Hòa vốn chỉ cần 16,6 tr/ngày (~2,68 ca/ngày); hoàn vốn sạch trong 3 đến 6 THÁNG.</a:t>
            </a:r>
          </a:p>
          <a:p>
            <a:pPr>
              <a:spcAft>
                <a:spcPts val="600"/>
              </a:spcAft>
              <a:defRPr sz="1050" b="1">
                <a:solidFill>
                  <a:srgbClr val="D97706"/>
                </a:solidFill>
                <a:latin typeface="Segoe UI"/>
              </a:defRPr>
            </a:pPr>
            <a:r>
              <a:t>✔ Khai trương ngay Tháng 11: </a:t>
            </a:r>
            <a:r>
              <a:rPr b="0">
                <a:solidFill>
                  <a:srgbClr val="0F172A"/>
                </a:solidFill>
              </a:rPr>
              <a:t>Tiến độ chỉnh trang 15 ngày, lắp đặt 3-5 ngày, mở cửa đón bệnh nhân đón sóng cuối năm.</a:t>
            </a:r>
          </a:p>
          <a:p>
            <a:pPr>
              <a:spcBef>
                <a:spcPts val="800"/>
              </a:spcBef>
              <a:defRPr sz="1100" b="1">
                <a:solidFill>
                  <a:srgbClr val="0284C7"/>
                </a:solidFill>
                <a:latin typeface="Segoe UI"/>
              </a:defRPr>
            </a:pPr>
            <a:r>
              <a:t>🚀 HÀNH ĐỘNG TIẾP THEO: Ký kết Thỏa thuận Cổ đông &amp; Kích hoạt Đợt 1 ($31.450 USD ~ 814 triệu VNĐ) để trả thẳng 1 năm tiền nhà, nộp hồ sơ pháp lý cơ bản và đặt cọc 50% thiết bị ngay trong tuần này!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